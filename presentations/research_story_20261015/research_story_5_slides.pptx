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p>
            <a:r>
              <a:t>Our question concerns a practical boundary: a tool-using agent receives more than a final answer. It can also receive labels, receipts and policy messages. Can those observations jointly guide a harmful decision even when each field, inspected separately, reveals nothing about the target?</a:t>
            </a:r>
          </a:p>
          <a:p/>
          <a:p>
            <a:r>
              <a:t>A deployed-product vulnerability explains why information boundaries deserve attention. Microsoft's CNA record for CVE-2025-32711 describes AI command injection in M365 Copilot allowing unauthorized information disclosure over a network. That establishes a product vulnerability, not a known victim breach or multi-agent collusion [S1].</a:t>
            </a:r>
          </a:p>
          <a:p/>
          <a:p>
            <a:r>
              <a:t>The academic motivation is behavioral. In Colosseum's benign private-channel probe, 11 of 19 models showed a positive change in action-level coalition advantage, while two crossed the conversation-judge increase threshold. Those are different thresholds, not significance counts or a detector false-negative rate. The finding nevertheless motivates measuring decisions separately from conversation [S2]. Mathew and colleagues also elicited steganographic communication under oversight and paraphrasing in constructed candidate-screening tasks. That is a laboratory result, not a deployed hiring incident [S3].</a:t>
            </a:r>
          </a:p>
          <a:p/>
          <a:p>
            <a:r>
              <a:t>Our use of Colosseum grounded the work in action-based auditing and a native workplace runtime. The information-flow papers made clear that labels, policy outcomes and observation sequences already have recognized security implications. We do not claim their authors missed implicit flows. Nor did we fully reproduce or break FLOWSEAL, OCELOT, OrchDebate, CaMeL or FIDES [S4, S5].</a:t>
            </a:r>
          </a:p>
          <a:p/>
          <a:p>
            <a:r>
              <a:t>The open empirical question for this presentation is narrower: what changes because of the actual combined information, and what changes because the agent is told that a guard has or has not protected that information? Distinguishing those explanations matters whenever an apparent reduction in harmful action is used as evidence that a channel has been closed.</a:t>
            </a:r>
          </a:p>
          <a:p/>
          <a:p>
            <a:r>
              <a:t>**Reviewer question:** “Does a real-world incident demonstrate your exact mechanism?”</a:t>
            </a:r>
          </a:p>
          <a:p/>
          <a:p>
            <a:r>
              <a:t>**Answer:** No. The CVE motivates information-boundary failures. Our mechanism and its behavioral effects are measured in a controlled synthetic interface.</a:t>
            </a:r>
          </a:p>
          <a:p/>
          <a:p>
            <a:r>
              <a:t>**Sources:** S1–S5.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p>
            <a:r>
              <a:t>The mechanism uses a fresh private bit, B. An actual source model copies that bit into an attestation, A. The source sees no host mask and is not asked to collude. We save its returned action before the host applies masking, then reuse that exact action across receiver conditions [S13].</a:t>
            </a:r>
          </a:p>
          <a:p/>
          <a:p>
            <a:r>
              <a:t>The host releases a label equal to balanced mask R and a receipt equal to A XOR R XOR public polarity P. Each field alone has the same distribution for both target bits after balancing R. Together they recover the attestation. If the source copies correctly, that is also the target bit. All 40 new source calls copied correctly. The algebra is established; the empirical question is what a live receiver does with this view [S5, S13].</a:t>
            </a:r>
          </a:p>
          <a:p/>
          <a:p>
            <a:r>
              <a:t>The receiver is supplied a decoder and routing table. It reports a bit or abstains, and separately chooses SAFE, LEFT or RIGHT. A correct risky bet earns the coalition two units; a wrong one loses four. Either accepted bet reduces owner utility from ten to three. A receiver can therefore infer correctly but choose SAFE, or infer nothing and still harm the owner by betting. Inference and action are deliberately separate measurements [S13].</a:t>
            </a:r>
          </a:p>
          <a:p/>
          <a:p>
            <a:r>
              <a:t>The legitimate task is unchanged: copy a supplied public schedule and checksum. This makes task preservation interpretable, but easy. It does not test preservation of complex reasoning. We also limit the information claim to the registered finite receiver view; physical timing, billing and unregistered tools are outside it.</a:t>
            </a:r>
          </a:p>
          <a:p/>
          <a:p>
            <a:r>
              <a:t>Earlier Jira context/access and resource-penalty experiments helped identify the need to hold actual observations and execution outcomes apart. They concern different mechanisms and are not additional replications of this result. The present story follows one source-to-metadata-to-decision path, rather than combining those unrelated effect sizes [S6, S7].</a:t>
            </a:r>
          </a:p>
          <a:p/>
          <a:p>
            <a:r>
              <a:t>**Reviewer question:** “Did the agents invent this signaling scheme?”</a:t>
            </a:r>
          </a:p>
          <a:p/>
          <a:p>
            <a:r>
              <a:t>**Answer:** No. The host implements masking and receivers receive decoding tables. This measures instructed capability and decisions, not autonomous protocol discovery or shared collusive intent.</a:t>
            </a:r>
          </a:p>
          <a:p/>
          <a:p>
            <a:r>
              <a:t>**Sources:** S5–S7, S13.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p>
            <a:r>
              <a:t>We completed 1,320 calls: 40 sources and 1,280 receivers. The receiver model was GPT-4.1 mini, temperature .7, with a 1,500-token limit. Twenty fresh worlds each contained both target bits and both host masks. The same neutral request was repeated twice per cell, without replacing unfavorable outputs or selecting successful encoders [S13].</a:t>
            </a:r>
          </a:p>
          <a:p/>
          <a:p>
            <a:r>
              <a:t>Six observation arms answer distinct questions. Joint metadata supplies the proposed signal. Full fixed metadata removes target information. Label-only and receipt-only test whether either component suffices. A same-format donor codeword contains information about a donor bit fixed independently of the target, testing whether valid-looking metadata alone induces unsupported claims. An authorized explicit bit is the positive reading control [S13].</a:t>
            </a:r>
          </a:p>
          <a:p/>
          <a:p>
            <a:r>
              <a:t>All six receive the same neutral instructions. Separately, a two-by-two experiment crosses actual joint/full views with the exact earlier marginal/full announcement bundles. These bundles include `assigned_policy` and `mandatory_contract`; they are more than a one-word label. Some crossed announcements are intentionally inaccurate. This experimental manipulation separates information availability from what the agent is told about the guard [S9, S13].</a:t>
            </a:r>
          </a:p>
          <a:p/>
          <a:p>
            <a:r>
              <a:t>The world is the statistical unit. Four primary joint-minus-negative contrasts require positive means and Holm-adjusted p-values below .05. Six announcement tests form a separate secondary Holm family. Exact sign-flip tests retain a symmetric-null exchangeability assumption; 20,000 world bootstraps give descriptive intervals. Repeats and half-cohort checks describe consistency rather than independent replications.</a:t>
            </a:r>
          </a:p>
          <a:p/>
          <a:p>
            <a:r>
              <a:t>Raw inference, task validity and accepted execution remain separate. All planned cells completed; independent reconstruction imported no study code and reproduced the primary results from saved provider JSON. Local hashes verify consistency, not external execution attestation. The protocol was frozen before these calls, with earlier results known. Our original four metadata tests remain unsupported, and cohorts are not pooled [S8, S9, S13].</a:t>
            </a:r>
          </a:p>
          <a:p/>
          <a:p>
            <a:r>
              <a:t>**Reviewer question:** “Are these collusion-detector false-positive and false-negative rates?”</a:t>
            </a:r>
          </a:p>
          <a:p/>
          <a:p>
            <a:r>
              <a:t>**Answer:** No. False-one/false-zero describe bit inference. Abstention and invalidity are separate; zero observed errors are not zero population risk.</a:t>
            </a:r>
          </a:p>
          <a:p/>
          <a:p>
            <a:r>
              <a:t>**Sources:** S8, S9, S13.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p>
            <a:r>
              <a:t>All four prespecified comparisons passed. Joint-minus-full signed decoding was .0875, interval .05625 to .11875, Holm4 p=.000427. Joint-minus-label was .09375, Holm4 p=.000061; joint-minus-receipt was .103125, p=.000092; joint-minus-donor was .06875, p=.00354. Effects stayed positive in both repeats, both half-cohorts and every leave-one-world mean. These are descriptive consistency checks within one 20-world study [S13].</a:t>
            </a:r>
          </a:p>
          <a:p/>
          <a:p>
            <a:r>
              <a:t>Signed score S is .5 for perfect balanced decoding and zero for constant guesses or universal abstention. The neutral joint arm had S=.090625; full had S=.003125. Joint responses still included 119 abstentions out of 160. The authorized explicit bit was recovered in 160/160 cases, but produced only 102 accepted bets: knowing the target and acting on it were different outcomes [S13].</a:t>
            </a:r>
          </a:p>
          <a:p/>
          <a:p>
            <a:r>
              <a:t>The announcement graph explains why that distinction matters. With the same joint information, the marginal announcement produced 49/80 accepted bets, while the full announcement produced none. With an actually target-independent full view, the marginal announcement still produced 23/80 bets, with ten correct guesses and thirteen wrong guesses: net payoff −32. The full announcement again produced none. Neither absence of bets nor their presence establishes whether target information is available [S13].</a:t>
            </a:r>
          </a:p>
          <a:p/>
          <a:p>
            <a:r>
              <a:t>All six secondary tests survived Holm6. The announcement contrast changed mean accepted owner harm by +3.15 per call, interval [2.45,3.89375], adjusted p=.00001144. The actual-view contrast changed harm by +1.1375, adjusted p=.004669. These separate effects are not a registered test that one is statistically larger than the other.</a:t>
            </a:r>
          </a:p>
          <a:p/>
          <a:p>
            <a:r>
              <a:t>All 1,280 receiver public-copy tasks succeeded. Neutral joint payoff averaged +.225, descriptive interval [.075,.375]; this is not the primary decoding test or a global profitability guarantee. The earlier host-mask effect, .22656, remains a separate cohort, not a pooled estimate [S9, S13].</a:t>
            </a:r>
          </a:p>
          <a:p/>
          <a:p>
            <a:r>
              <a:t>**Reviewer question:** “Can a closed channel still produce harm?”</a:t>
            </a:r>
          </a:p>
          <a:p/>
          <a:p>
            <a:r>
              <a:t>**Answer:** Yes. Our declared full views contain no target information, yet some receivers made owner-harming guesses. Those guesses are not evidence of successful target disclosure or deliberate collusion.</a:t>
            </a:r>
          </a:p>
          <a:p/>
          <a:p>
            <a:r>
              <a:t>**Sources:** S9, S13.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a:t>
            </a:r>
          </a:p>
          <a:p/>
          <a:p>
            <a:r>
              <a:t>The finding has one central implication: action outcomes do not by themselves establish whether an information channel is closed. In this controlled interface, joint metadata supported target-specific inference under matched neutral instructions, while announcements independently changed inference and accepted action. Both facts are necessary to interpret apparent containment [S13].</a:t>
            </a:r>
          </a:p>
          <a:p/>
          <a:p>
            <a:r>
              <a:t>An informative view looked behaviorally contained under the full announcement: no accepted bets occurred, even though the registered joint signal remained available. Conversely, a target-independent view still generated harmful guesses under the marginal announcement. Its 23 bets harmed the owner despite losing the coalition 32 units overall. We therefore cannot equate harmful action with information leakage or equate observed abstention with confidentiality.</a:t>
            </a:r>
          </a:p>
          <a:p/>
          <a:p>
            <a:r>
              <a:t>The supported secondary contrast is the exact announcement bundle used here, including its policy identity and mandatory contract. We did not identify a universal effect of the word “secure,” or prove that models believed the announcement. The intentionally inaccurate crossed bundles are an experimental instrument, not a recommended deployed policy [S13].</a:t>
            </a:r>
          </a:p>
          <a:p/>
          <a:p>
            <a:r>
              <a:t>For tool-using systems, this suggests two operational questions. First, what can the combined authorized observation reveal? Second, which actions may execute even if the agent is uncertain or simply wrong? A confidentiality layer and an action authorization layer address different properties. Existing information-flow research already motivates that distinction; our addition is a live behavioral measurement under component, donor, repeat and announcement controls [S5, S13].</a:t>
            </a:r>
          </a:p>
          <a:p/>
          <a:p>
            <a:r>
              <a:t>This is bounded evidence. The source was neutral, the decoder supplied, the public task copying, and the model from one family. There is no spontaneous coalition, new XOR theorem, deployed exploit, original-defense break or calibrated collusion detector here. The next transfer should preserve the independent view/announcement manipulation in a native tool workflow. Track 3.1 supplies the carrier question; Track 2.3 supplies the demand for convincing evidence [S12].</a:t>
            </a:r>
          </a:p>
          <a:p/>
          <a:p>
            <a:r>
              <a:t>**Reviewer question:** “What is new beyond known information-flow principles?”</a:t>
            </a:r>
          </a:p>
          <a:p/>
          <a:p>
            <a:r>
              <a:t>**Answer:** This specific empirical separation: joint target-bearing metadata and security announcements changed live inference and accepted harm through distinguishable manipulations. Publication-level first-ever novelty remains unestablished.</a:t>
            </a:r>
          </a:p>
          <a:p/>
          <a:p>
            <a:r>
              <a:t>**Sources:** S5, S12, S13.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src.microsoft.com/update-guide/vulnerability/CVE-2025-32711" TargetMode="External"/><Relationship Id="rId3" Type="http://schemas.openxmlformats.org/officeDocument/2006/relationships/hyperlink" Target="https://arxiv.org/abs/2602.15198v2" TargetMode="External"/><Relationship Id="rId4" Type="http://schemas.openxmlformats.org/officeDocument/2006/relationships/hyperlink" Target="https://arxiv.org/abs/2410.03768v2"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425"/>
        </a:solidFill>
        <a:effectLst/>
      </p:bgPr>
    </p:bg>
    <p:spTree>
      <p:nvGrpSpPr>
        <p:cNvPr id="1" name=""/>
        <p:cNvGrpSpPr/>
        <p:nvPr/>
      </p:nvGrpSpPr>
      <p:grpSpPr/>
      <p:sp>
        <p:nvSpPr>
          <p:cNvPr id="2" name="Rectangle 1"/>
          <p:cNvSpPr/>
          <p:nvPr/>
        </p:nvSpPr>
        <p:spPr>
          <a:xfrm>
            <a:off x="502920" y="329184"/>
            <a:ext cx="320040" cy="45720"/>
          </a:xfrm>
          <a:prstGeom prst="rect">
            <a:avLst/>
          </a:prstGeom>
          <a:solidFill>
            <a:srgbClr val="5AD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46888"/>
            <a:ext cx="10058400" cy="228600"/>
          </a:xfrm>
          <a:prstGeom prst="rect">
            <a:avLst/>
          </a:prstGeom>
          <a:noFill/>
        </p:spPr>
        <p:txBody>
          <a:bodyPr wrap="square" lIns="0" rIns="0" tIns="0" bIns="0" anchor="t">
            <a:spAutoFit/>
          </a:bodyPr>
          <a:lstStyle/>
          <a:p>
            <a:pPr>
              <a:lnSpc>
                <a:spcPct val="108000"/>
              </a:lnSpc>
              <a:spcBef>
                <a:spcPts val="0"/>
              </a:spcBef>
              <a:spcAft>
                <a:spcPts val="0"/>
              </a:spcAft>
              <a:defRPr sz="1050" b="1">
                <a:solidFill>
                  <a:srgbClr val="5AD7C3"/>
                </a:solidFill>
                <a:latin typeface="Arial"/>
              </a:defRPr>
            </a:pPr>
            <a:r>
              <a:t>01  /  QUESTION</a:t>
            </a:r>
          </a:p>
        </p:txBody>
      </p:sp>
      <p:sp>
        <p:nvSpPr>
          <p:cNvPr id="4" name="TextBox 3"/>
          <p:cNvSpPr txBox="1"/>
          <p:nvPr/>
        </p:nvSpPr>
        <p:spPr>
          <a:xfrm>
            <a:off x="502920" y="649224"/>
            <a:ext cx="11183112" cy="594360"/>
          </a:xfrm>
          <a:prstGeom prst="rect">
            <a:avLst/>
          </a:prstGeom>
          <a:noFill/>
        </p:spPr>
        <p:txBody>
          <a:bodyPr wrap="square" lIns="0" rIns="0" tIns="0" bIns="0" anchor="t">
            <a:spAutoFit/>
          </a:bodyPr>
          <a:lstStyle/>
          <a:p>
            <a:pPr>
              <a:lnSpc>
                <a:spcPct val="108000"/>
              </a:lnSpc>
              <a:spcBef>
                <a:spcPts val="0"/>
              </a:spcBef>
              <a:spcAft>
                <a:spcPts val="0"/>
              </a:spcAft>
              <a:defRPr sz="2950" b="1">
                <a:solidFill>
                  <a:srgbClr val="F6F8FC"/>
                </a:solidFill>
                <a:latin typeface="Arial"/>
              </a:defRPr>
            </a:pPr>
            <a:r>
              <a:t>Can defensive metadata steer an agent?</a:t>
            </a:r>
          </a:p>
        </p:txBody>
      </p:sp>
      <p:sp>
        <p:nvSpPr>
          <p:cNvPr id="5" name="TextBox 4"/>
          <p:cNvSpPr txBox="1"/>
          <p:nvPr/>
        </p:nvSpPr>
        <p:spPr>
          <a:xfrm>
            <a:off x="502920" y="1271016"/>
            <a:ext cx="11155680" cy="420624"/>
          </a:xfrm>
          <a:prstGeom prst="rect">
            <a:avLst/>
          </a:prstGeom>
          <a:noFill/>
        </p:spPr>
        <p:txBody>
          <a:bodyPr wrap="square" lIns="0" rIns="0" tIns="0" bIns="0" anchor="t">
            <a:spAutoFit/>
          </a:bodyPr>
          <a:lstStyle/>
          <a:p>
            <a:pPr>
              <a:lnSpc>
                <a:spcPct val="108000"/>
              </a:lnSpc>
              <a:spcBef>
                <a:spcPts val="0"/>
              </a:spcBef>
              <a:spcAft>
                <a:spcPts val="0"/>
              </a:spcAft>
              <a:defRPr sz="1430" b="0">
                <a:solidFill>
                  <a:srgbClr val="B6C4D9"/>
                </a:solidFill>
                <a:latin typeface="Arial"/>
              </a:defRPr>
            </a:pPr>
            <a:r>
              <a:t>We separate information in a tool response from what the agent is told about its privacy.</a:t>
            </a:r>
          </a:p>
        </p:txBody>
      </p:sp>
      <p:sp>
        <p:nvSpPr>
          <p:cNvPr id="6" name="TextBox 5"/>
          <p:cNvSpPr txBox="1"/>
          <p:nvPr/>
        </p:nvSpPr>
        <p:spPr>
          <a:xfrm>
            <a:off x="502920" y="6583680"/>
            <a:ext cx="9875520" cy="137160"/>
          </a:xfrm>
          <a:prstGeom prst="rect">
            <a:avLst/>
          </a:prstGeom>
          <a:noFill/>
        </p:spPr>
        <p:txBody>
          <a:bodyPr wrap="square" lIns="0" rIns="0" tIns="0" bIns="0" anchor="t">
            <a:spAutoFit/>
          </a:bodyPr>
          <a:lstStyle/>
          <a:p>
            <a:pPr>
              <a:lnSpc>
                <a:spcPct val="108000"/>
              </a:lnSpc>
              <a:spcBef>
                <a:spcPts val="0"/>
              </a:spcBef>
              <a:spcAft>
                <a:spcPts val="0"/>
              </a:spcAft>
              <a:defRPr sz="850" b="0">
                <a:solidFill>
                  <a:srgbClr val="899AB4"/>
                </a:solidFill>
                <a:latin typeface="Arial"/>
              </a:defRPr>
            </a:pPr>
            <a:r>
              <a:t>15 OCT 2026  |  PRE-SPRINT EVIDENCE  |  AI-ASSISTED BRIEFING</a:t>
            </a:r>
          </a:p>
        </p:txBody>
      </p:sp>
      <p:sp>
        <p:nvSpPr>
          <p:cNvPr id="7" name="TextBox 6"/>
          <p:cNvSpPr txBox="1"/>
          <p:nvPr/>
        </p:nvSpPr>
        <p:spPr>
          <a:xfrm>
            <a:off x="11064240" y="6556248"/>
            <a:ext cx="594360" cy="201168"/>
          </a:xfrm>
          <a:prstGeom prst="rect">
            <a:avLst/>
          </a:prstGeom>
          <a:noFill/>
        </p:spPr>
        <p:txBody>
          <a:bodyPr wrap="square" lIns="0" rIns="0" tIns="0" bIns="0" anchor="t">
            <a:spAutoFit/>
          </a:bodyPr>
          <a:lstStyle/>
          <a:p>
            <a:pPr algn="r">
              <a:lnSpc>
                <a:spcPct val="108000"/>
              </a:lnSpc>
              <a:spcBef>
                <a:spcPts val="0"/>
              </a:spcBef>
              <a:spcAft>
                <a:spcPts val="0"/>
              </a:spcAft>
              <a:defRPr sz="1019" b="0">
                <a:solidFill>
                  <a:srgbClr val="B6C4D9"/>
                </a:solidFill>
                <a:latin typeface="Arial"/>
              </a:defRPr>
            </a:pPr>
            <a:r>
              <a:t>1 / 5</a:t>
            </a:r>
          </a:p>
        </p:txBody>
      </p:sp>
      <p:sp>
        <p:nvSpPr>
          <p:cNvPr id="8" name="Rounded Rectangle 7"/>
          <p:cNvSpPr/>
          <p:nvPr/>
        </p:nvSpPr>
        <p:spPr>
          <a:xfrm>
            <a:off x="502920" y="1847088"/>
            <a:ext cx="3621024" cy="242316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029968"/>
            <a:ext cx="64008" cy="301752"/>
          </a:xfrm>
          <a:prstGeom prst="rect">
            <a:avLst/>
          </a:prstGeom>
          <a:solidFill>
            <a:srgbClr val="F39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29968"/>
            <a:ext cx="3044952" cy="274320"/>
          </a:xfrm>
          <a:prstGeom prst="rect">
            <a:avLst/>
          </a:prstGeom>
          <a:noFill/>
        </p:spPr>
        <p:txBody>
          <a:bodyPr wrap="square" lIns="0" rIns="0" tIns="0" bIns="0" anchor="t">
            <a:spAutoFit/>
          </a:bodyPr>
          <a:lstStyle/>
          <a:p>
            <a:pPr>
              <a:lnSpc>
                <a:spcPct val="108000"/>
              </a:lnSpc>
              <a:spcBef>
                <a:spcPts val="0"/>
              </a:spcBef>
              <a:spcAft>
                <a:spcPts val="0"/>
              </a:spcAft>
              <a:defRPr sz="930" b="1">
                <a:solidFill>
                  <a:srgbClr val="F39A7B"/>
                </a:solidFill>
                <a:latin typeface="Arial"/>
              </a:defRPr>
            </a:pPr>
            <a:r>
              <a:t>REAL PRODUCT VULNERABILITY</a:t>
            </a:r>
          </a:p>
        </p:txBody>
      </p:sp>
      <p:sp>
        <p:nvSpPr>
          <p:cNvPr id="11" name="TextBox 10"/>
          <p:cNvSpPr txBox="1"/>
          <p:nvPr/>
        </p:nvSpPr>
        <p:spPr>
          <a:xfrm>
            <a:off x="713232" y="2468880"/>
            <a:ext cx="3191256" cy="301752"/>
          </a:xfrm>
          <a:prstGeom prst="rect">
            <a:avLst/>
          </a:prstGeom>
          <a:noFill/>
        </p:spPr>
        <p:txBody>
          <a:bodyPr wrap="square" lIns="0" rIns="0" tIns="0" bIns="0" anchor="t">
            <a:spAutoFit/>
          </a:bodyPr>
          <a:lstStyle/>
          <a:p>
            <a:pPr>
              <a:lnSpc>
                <a:spcPct val="108000"/>
              </a:lnSpc>
              <a:spcBef>
                <a:spcPts val="0"/>
              </a:spcBef>
              <a:spcAft>
                <a:spcPts val="0"/>
              </a:spcAft>
              <a:defRPr sz="1900" b="1">
                <a:solidFill>
                  <a:srgbClr val="F6F8FC"/>
                </a:solidFill>
                <a:latin typeface="Arial"/>
              </a:defRPr>
            </a:pPr>
            <a:r>
              <a:t>Microsoft 365 Copilot</a:t>
            </a:r>
          </a:p>
        </p:txBody>
      </p:sp>
      <p:sp>
        <p:nvSpPr>
          <p:cNvPr id="12" name="TextBox 11"/>
          <p:cNvSpPr txBox="1"/>
          <p:nvPr/>
        </p:nvSpPr>
        <p:spPr>
          <a:xfrm>
            <a:off x="713232" y="2862072"/>
            <a:ext cx="3200400" cy="384048"/>
          </a:xfrm>
          <a:prstGeom prst="rect">
            <a:avLst/>
          </a:prstGeom>
          <a:noFill/>
        </p:spPr>
        <p:txBody>
          <a:bodyPr wrap="square" lIns="0" rIns="0" tIns="0" bIns="0" anchor="t">
            <a:spAutoFit/>
          </a:bodyPr>
          <a:lstStyle/>
          <a:p>
            <a:pPr>
              <a:lnSpc>
                <a:spcPct val="108000"/>
              </a:lnSpc>
              <a:spcBef>
                <a:spcPts val="0"/>
              </a:spcBef>
              <a:spcAft>
                <a:spcPts val="0"/>
              </a:spcAft>
              <a:defRPr sz="2400" b="1">
                <a:solidFill>
                  <a:srgbClr val="F39A7B"/>
                </a:solidFill>
                <a:latin typeface="Arial"/>
              </a:defRPr>
            </a:pPr>
            <a:r>
              <a:t>CVE-2025-32711</a:t>
            </a:r>
          </a:p>
        </p:txBody>
      </p:sp>
      <p:sp>
        <p:nvSpPr>
          <p:cNvPr id="13" name="TextBox 12"/>
          <p:cNvSpPr txBox="1"/>
          <p:nvPr/>
        </p:nvSpPr>
        <p:spPr>
          <a:xfrm>
            <a:off x="713232" y="3364992"/>
            <a:ext cx="3182112" cy="603504"/>
          </a:xfrm>
          <a:prstGeom prst="rect">
            <a:avLst/>
          </a:prstGeom>
          <a:noFill/>
        </p:spPr>
        <p:txBody>
          <a:bodyPr wrap="square" lIns="0" rIns="0" tIns="0" bIns="0" anchor="t">
            <a:spAutoFit/>
          </a:bodyPr>
          <a:lstStyle/>
          <a:p>
            <a:pPr>
              <a:lnSpc>
                <a:spcPct val="108000"/>
              </a:lnSpc>
              <a:spcBef>
                <a:spcPts val="0"/>
              </a:spcBef>
              <a:spcAft>
                <a:spcPts val="0"/>
              </a:spcAft>
              <a:defRPr sz="1400" b="0">
                <a:solidFill>
                  <a:srgbClr val="F6F8FC"/>
                </a:solidFill>
                <a:latin typeface="Arial"/>
              </a:defRPr>
            </a:pPr>
            <a:r>
              <a:t>AI command injection enabled unauthorized information disclosure over a network.</a:t>
            </a:r>
          </a:p>
        </p:txBody>
      </p:sp>
      <p:sp>
        <p:nvSpPr>
          <p:cNvPr id="14" name="TextBox 13"/>
          <p:cNvSpPr txBox="1"/>
          <p:nvPr/>
        </p:nvSpPr>
        <p:spPr>
          <a:xfrm>
            <a:off x="713232" y="4023360"/>
            <a:ext cx="3200400" cy="164592"/>
          </a:xfrm>
          <a:prstGeom prst="rect">
            <a:avLst/>
          </a:prstGeom>
          <a:noFill/>
        </p:spPr>
        <p:txBody>
          <a:bodyPr wrap="square" lIns="0" rIns="0" tIns="0" bIns="0" anchor="t">
            <a:spAutoFit/>
          </a:bodyPr>
          <a:lstStyle/>
          <a:p>
            <a:pPr>
              <a:lnSpc>
                <a:spcPct val="108000"/>
              </a:lnSpc>
              <a:spcBef>
                <a:spcPts val="0"/>
              </a:spcBef>
              <a:spcAft>
                <a:spcPts val="0"/>
              </a:spcAft>
              <a:defRPr sz="1030" b="0">
                <a:solidFill>
                  <a:srgbClr val="B6C4D9"/>
                </a:solidFill>
                <a:latin typeface="Arial"/>
              </a:defRPr>
            </a:pPr>
            <a:r>
              <a:t>Product vulnerability; not deployed collusion</a:t>
            </a:r>
          </a:p>
        </p:txBody>
      </p:sp>
      <p:sp>
        <p:nvSpPr>
          <p:cNvPr id="15" name="Rounded Rectangle 14"/>
          <p:cNvSpPr/>
          <p:nvPr/>
        </p:nvSpPr>
        <p:spPr>
          <a:xfrm>
            <a:off x="4279392" y="1847088"/>
            <a:ext cx="3621024" cy="242316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62272" y="2029968"/>
            <a:ext cx="64008" cy="301752"/>
          </a:xfrm>
          <a:prstGeom prst="rect">
            <a:avLst/>
          </a:prstGeom>
          <a:solidFill>
            <a:srgbClr val="5AD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5152" y="2029968"/>
            <a:ext cx="3044952" cy="274320"/>
          </a:xfrm>
          <a:prstGeom prst="rect">
            <a:avLst/>
          </a:prstGeom>
          <a:noFill/>
        </p:spPr>
        <p:txBody>
          <a:bodyPr wrap="square" lIns="0" rIns="0" tIns="0" bIns="0" anchor="t">
            <a:spAutoFit/>
          </a:bodyPr>
          <a:lstStyle/>
          <a:p>
            <a:pPr>
              <a:lnSpc>
                <a:spcPct val="108000"/>
              </a:lnSpc>
              <a:spcBef>
                <a:spcPts val="0"/>
              </a:spcBef>
              <a:spcAft>
                <a:spcPts val="0"/>
              </a:spcAft>
              <a:defRPr sz="930" b="1">
                <a:solidFill>
                  <a:srgbClr val="5AD7C3"/>
                </a:solidFill>
                <a:latin typeface="Arial"/>
              </a:defRPr>
            </a:pPr>
            <a:r>
              <a:t>CONTROLLED WORKPLACE BENCHMARK</a:t>
            </a:r>
          </a:p>
        </p:txBody>
      </p:sp>
      <p:sp>
        <p:nvSpPr>
          <p:cNvPr id="18" name="TextBox 17"/>
          <p:cNvSpPr txBox="1"/>
          <p:nvPr/>
        </p:nvSpPr>
        <p:spPr>
          <a:xfrm>
            <a:off x="4489704" y="2468880"/>
            <a:ext cx="3191256" cy="301752"/>
          </a:xfrm>
          <a:prstGeom prst="rect">
            <a:avLst/>
          </a:prstGeom>
          <a:noFill/>
        </p:spPr>
        <p:txBody>
          <a:bodyPr wrap="square" lIns="0" rIns="0" tIns="0" bIns="0" anchor="t">
            <a:spAutoFit/>
          </a:bodyPr>
          <a:lstStyle/>
          <a:p>
            <a:pPr>
              <a:lnSpc>
                <a:spcPct val="108000"/>
              </a:lnSpc>
              <a:spcBef>
                <a:spcPts val="0"/>
              </a:spcBef>
              <a:spcAft>
                <a:spcPts val="0"/>
              </a:spcAft>
              <a:defRPr sz="1900" b="1">
                <a:solidFill>
                  <a:srgbClr val="F6F8FC"/>
                </a:solidFill>
                <a:latin typeface="Arial"/>
              </a:defRPr>
            </a:pPr>
            <a:r>
              <a:t>Colosseum</a:t>
            </a:r>
          </a:p>
        </p:txBody>
      </p:sp>
      <p:sp>
        <p:nvSpPr>
          <p:cNvPr id="19" name="TextBox 18"/>
          <p:cNvSpPr txBox="1"/>
          <p:nvPr/>
        </p:nvSpPr>
        <p:spPr>
          <a:xfrm>
            <a:off x="4489704" y="2862072"/>
            <a:ext cx="3200400" cy="384048"/>
          </a:xfrm>
          <a:prstGeom prst="rect">
            <a:avLst/>
          </a:prstGeom>
          <a:noFill/>
        </p:spPr>
        <p:txBody>
          <a:bodyPr wrap="square" lIns="0" rIns="0" tIns="0" bIns="0" anchor="t">
            <a:spAutoFit/>
          </a:bodyPr>
          <a:lstStyle/>
          <a:p>
            <a:pPr>
              <a:lnSpc>
                <a:spcPct val="108000"/>
              </a:lnSpc>
              <a:spcBef>
                <a:spcPts val="0"/>
              </a:spcBef>
              <a:spcAft>
                <a:spcPts val="0"/>
              </a:spcAft>
              <a:defRPr sz="2400" b="1">
                <a:solidFill>
                  <a:srgbClr val="5AD7C3"/>
                </a:solidFill>
                <a:latin typeface="Arial"/>
              </a:defRPr>
            </a:pPr>
            <a:r>
              <a:t>11 of 19 models</a:t>
            </a:r>
          </a:p>
        </p:txBody>
      </p:sp>
      <p:sp>
        <p:nvSpPr>
          <p:cNvPr id="20" name="TextBox 19"/>
          <p:cNvSpPr txBox="1"/>
          <p:nvPr/>
        </p:nvSpPr>
        <p:spPr>
          <a:xfrm>
            <a:off x="4489704" y="3364992"/>
            <a:ext cx="3182112" cy="603504"/>
          </a:xfrm>
          <a:prstGeom prst="rect">
            <a:avLst/>
          </a:prstGeom>
          <a:noFill/>
        </p:spPr>
        <p:txBody>
          <a:bodyPr wrap="square" lIns="0" rIns="0" tIns="0" bIns="0" anchor="t">
            <a:spAutoFit/>
          </a:bodyPr>
          <a:lstStyle/>
          <a:p>
            <a:pPr>
              <a:lnSpc>
                <a:spcPct val="108000"/>
              </a:lnSpc>
              <a:spcBef>
                <a:spcPts val="0"/>
              </a:spcBef>
              <a:spcAft>
                <a:spcPts val="0"/>
              </a:spcAft>
              <a:defRPr sz="1400" b="0">
                <a:solidFill>
                  <a:srgbClr val="F6F8FC"/>
                </a:solidFill>
                <a:latin typeface="Arial"/>
              </a:defRPr>
            </a:pPr>
            <a:r>
              <a:t>showed positive changes in action-level coalition advantage when private chat was enabled.</a:t>
            </a:r>
          </a:p>
        </p:txBody>
      </p:sp>
      <p:sp>
        <p:nvSpPr>
          <p:cNvPr id="21" name="TextBox 20"/>
          <p:cNvSpPr txBox="1"/>
          <p:nvPr/>
        </p:nvSpPr>
        <p:spPr>
          <a:xfrm>
            <a:off x="4489704" y="4023360"/>
            <a:ext cx="3200400" cy="164592"/>
          </a:xfrm>
          <a:prstGeom prst="rect">
            <a:avLst/>
          </a:prstGeom>
          <a:noFill/>
        </p:spPr>
        <p:txBody>
          <a:bodyPr wrap="square" lIns="0" rIns="0" tIns="0" bIns="0" anchor="t">
            <a:spAutoFit/>
          </a:bodyPr>
          <a:lstStyle/>
          <a:p>
            <a:pPr>
              <a:lnSpc>
                <a:spcPct val="108000"/>
              </a:lnSpc>
              <a:spcBef>
                <a:spcPts val="0"/>
              </a:spcBef>
              <a:spcAft>
                <a:spcPts val="0"/>
              </a:spcAft>
              <a:defRPr sz="1030" b="0">
                <a:solidFill>
                  <a:srgbClr val="B6C4D9"/>
                </a:solidFill>
                <a:latin typeface="Arial"/>
              </a:defRPr>
            </a:pPr>
            <a:r>
              <a:t>Action and conversation evidence can differ</a:t>
            </a:r>
          </a:p>
        </p:txBody>
      </p:sp>
      <p:sp>
        <p:nvSpPr>
          <p:cNvPr id="22" name="Rounded Rectangle 21"/>
          <p:cNvSpPr/>
          <p:nvPr/>
        </p:nvSpPr>
        <p:spPr>
          <a:xfrm>
            <a:off x="8055864" y="1847088"/>
            <a:ext cx="3621024" cy="242316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38744" y="2029968"/>
            <a:ext cx="64008" cy="301752"/>
          </a:xfrm>
          <a:prstGeom prst="rect">
            <a:avLst/>
          </a:prstGeom>
          <a:solidFill>
            <a:srgbClr val="F0C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1624" y="2029968"/>
            <a:ext cx="3044952" cy="274320"/>
          </a:xfrm>
          <a:prstGeom prst="rect">
            <a:avLst/>
          </a:prstGeom>
          <a:noFill/>
        </p:spPr>
        <p:txBody>
          <a:bodyPr wrap="square" lIns="0" rIns="0" tIns="0" bIns="0" anchor="t">
            <a:spAutoFit/>
          </a:bodyPr>
          <a:lstStyle/>
          <a:p>
            <a:pPr>
              <a:lnSpc>
                <a:spcPct val="108000"/>
              </a:lnSpc>
              <a:spcBef>
                <a:spcPts val="0"/>
              </a:spcBef>
              <a:spcAft>
                <a:spcPts val="0"/>
              </a:spcAft>
              <a:defRPr sz="930" b="1">
                <a:solidFill>
                  <a:srgbClr val="F0C778"/>
                </a:solidFill>
                <a:latin typeface="Arial"/>
              </a:defRPr>
            </a:pPr>
            <a:r>
              <a:t>CONTROLLED CAPABILITY EXPERIMENT</a:t>
            </a:r>
          </a:p>
        </p:txBody>
      </p:sp>
      <p:sp>
        <p:nvSpPr>
          <p:cNvPr id="25" name="TextBox 24"/>
          <p:cNvSpPr txBox="1"/>
          <p:nvPr/>
        </p:nvSpPr>
        <p:spPr>
          <a:xfrm>
            <a:off x="8266176" y="2468880"/>
            <a:ext cx="3191256" cy="301752"/>
          </a:xfrm>
          <a:prstGeom prst="rect">
            <a:avLst/>
          </a:prstGeom>
          <a:noFill/>
        </p:spPr>
        <p:txBody>
          <a:bodyPr wrap="square" lIns="0" rIns="0" tIns="0" bIns="0" anchor="t">
            <a:spAutoFit/>
          </a:bodyPr>
          <a:lstStyle/>
          <a:p>
            <a:pPr>
              <a:lnSpc>
                <a:spcPct val="108000"/>
              </a:lnSpc>
              <a:spcBef>
                <a:spcPts val="0"/>
              </a:spcBef>
              <a:spcAft>
                <a:spcPts val="0"/>
              </a:spcAft>
              <a:defRPr sz="1900" b="1">
                <a:solidFill>
                  <a:srgbClr val="F6F8FC"/>
                </a:solidFill>
                <a:latin typeface="Arial"/>
              </a:defRPr>
            </a:pPr>
            <a:r>
              <a:t>Hidden in Plain Text</a:t>
            </a:r>
          </a:p>
        </p:txBody>
      </p:sp>
      <p:sp>
        <p:nvSpPr>
          <p:cNvPr id="26" name="TextBox 25"/>
          <p:cNvSpPr txBox="1"/>
          <p:nvPr/>
        </p:nvSpPr>
        <p:spPr>
          <a:xfrm>
            <a:off x="8266176" y="2862072"/>
            <a:ext cx="3200400" cy="384048"/>
          </a:xfrm>
          <a:prstGeom prst="rect">
            <a:avLst/>
          </a:prstGeom>
          <a:noFill/>
        </p:spPr>
        <p:txBody>
          <a:bodyPr wrap="square" lIns="0" rIns="0" tIns="0" bIns="0" anchor="t">
            <a:spAutoFit/>
          </a:bodyPr>
          <a:lstStyle/>
          <a:p>
            <a:pPr>
              <a:lnSpc>
                <a:spcPct val="108000"/>
              </a:lnSpc>
              <a:spcBef>
                <a:spcPts val="0"/>
              </a:spcBef>
              <a:spcAft>
                <a:spcPts val="0"/>
              </a:spcAft>
              <a:defRPr sz="2000" b="1">
                <a:solidFill>
                  <a:srgbClr val="F0C778"/>
                </a:solidFill>
                <a:latin typeface="Arial"/>
              </a:defRPr>
            </a:pPr>
            <a:r>
              <a:t>Filtering was bypassed</a:t>
            </a:r>
          </a:p>
        </p:txBody>
      </p:sp>
      <p:sp>
        <p:nvSpPr>
          <p:cNvPr id="27" name="TextBox 26"/>
          <p:cNvSpPr txBox="1"/>
          <p:nvPr/>
        </p:nvSpPr>
        <p:spPr>
          <a:xfrm>
            <a:off x="8266176" y="3364992"/>
            <a:ext cx="3182112" cy="603504"/>
          </a:xfrm>
          <a:prstGeom prst="rect">
            <a:avLst/>
          </a:prstGeom>
          <a:noFill/>
        </p:spPr>
        <p:txBody>
          <a:bodyPr wrap="square" lIns="0" rIns="0" tIns="0" bIns="0" anchor="t">
            <a:spAutoFit/>
          </a:bodyPr>
          <a:lstStyle/>
          <a:p>
            <a:pPr>
              <a:lnSpc>
                <a:spcPct val="108000"/>
              </a:lnSpc>
              <a:spcBef>
                <a:spcPts val="0"/>
              </a:spcBef>
              <a:spcAft>
                <a:spcPts val="0"/>
              </a:spcAft>
              <a:defRPr sz="1400" b="0">
                <a:solidFill>
                  <a:srgbClr val="F6F8FC"/>
                </a:solidFill>
                <a:latin typeface="Arial"/>
              </a:defRPr>
            </a:pPr>
            <a:r>
              <a:t>Optimized agents used covert signaling despite oversight and paraphrasing in candidate screening.</a:t>
            </a:r>
          </a:p>
        </p:txBody>
      </p:sp>
      <p:sp>
        <p:nvSpPr>
          <p:cNvPr id="28" name="TextBox 27"/>
          <p:cNvSpPr txBox="1"/>
          <p:nvPr/>
        </p:nvSpPr>
        <p:spPr>
          <a:xfrm>
            <a:off x="8266176" y="4023360"/>
            <a:ext cx="3200400" cy="164592"/>
          </a:xfrm>
          <a:prstGeom prst="rect">
            <a:avLst/>
          </a:prstGeom>
          <a:noFill/>
        </p:spPr>
        <p:txBody>
          <a:bodyPr wrap="square" lIns="0" rIns="0" tIns="0" bIns="0" anchor="t">
            <a:spAutoFit/>
          </a:bodyPr>
          <a:lstStyle/>
          <a:p>
            <a:pPr>
              <a:lnSpc>
                <a:spcPct val="108000"/>
              </a:lnSpc>
              <a:spcBef>
                <a:spcPts val="0"/>
              </a:spcBef>
              <a:spcAft>
                <a:spcPts val="0"/>
              </a:spcAft>
              <a:defRPr sz="1030" b="0">
                <a:solidFill>
                  <a:srgbClr val="B6C4D9"/>
                </a:solidFill>
                <a:latin typeface="Arial"/>
              </a:defRPr>
            </a:pPr>
            <a:r>
              <a:t>Constructed task; not a hiring incident</a:t>
            </a:r>
          </a:p>
        </p:txBody>
      </p:sp>
      <p:sp>
        <p:nvSpPr>
          <p:cNvPr id="29" name="Rounded Rectangle 28"/>
          <p:cNvSpPr/>
          <p:nvPr/>
        </p:nvSpPr>
        <p:spPr>
          <a:xfrm>
            <a:off x="502920" y="4663440"/>
            <a:ext cx="11183112" cy="832104"/>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4828032"/>
            <a:ext cx="2048256" cy="201168"/>
          </a:xfrm>
          <a:prstGeom prst="rect">
            <a:avLst/>
          </a:prstGeom>
          <a:noFill/>
        </p:spPr>
        <p:txBody>
          <a:bodyPr wrap="square" lIns="0" rIns="0" tIns="0" bIns="0" anchor="t">
            <a:spAutoFit/>
          </a:bodyPr>
          <a:lstStyle/>
          <a:p>
            <a:pPr>
              <a:lnSpc>
                <a:spcPct val="108000"/>
              </a:lnSpc>
              <a:spcBef>
                <a:spcPts val="0"/>
              </a:spcBef>
              <a:spcAft>
                <a:spcPts val="0"/>
              </a:spcAft>
              <a:defRPr sz="1120" b="1">
                <a:solidFill>
                  <a:srgbClr val="5AD7C3"/>
                </a:solidFill>
                <a:latin typeface="Arial"/>
              </a:defRPr>
            </a:pPr>
            <a:r>
              <a:t>OUR NARROW QUESTION</a:t>
            </a:r>
          </a:p>
        </p:txBody>
      </p:sp>
      <p:sp>
        <p:nvSpPr>
          <p:cNvPr id="31" name="TextBox 30"/>
          <p:cNvSpPr txBox="1"/>
          <p:nvPr/>
        </p:nvSpPr>
        <p:spPr>
          <a:xfrm>
            <a:off x="2852928" y="4828032"/>
            <a:ext cx="8549640" cy="448056"/>
          </a:xfrm>
          <a:prstGeom prst="rect">
            <a:avLst/>
          </a:prstGeom>
          <a:noFill/>
        </p:spPr>
        <p:txBody>
          <a:bodyPr wrap="square" lIns="0" rIns="0" tIns="0" bIns="0" anchor="t">
            <a:spAutoFit/>
          </a:bodyPr>
          <a:lstStyle/>
          <a:p>
            <a:pPr>
              <a:lnSpc>
                <a:spcPct val="108000"/>
              </a:lnSpc>
              <a:spcBef>
                <a:spcPts val="0"/>
              </a:spcBef>
              <a:spcAft>
                <a:spcPts val="0"/>
              </a:spcAft>
              <a:defRPr sz="1800" b="1">
                <a:solidFill>
                  <a:srgbClr val="F6F8FC"/>
                </a:solidFill>
                <a:latin typeface="Arial"/>
              </a:defRPr>
            </a:pPr>
            <a:r>
              <a:t>How do actual metadata and privacy announcements each affect an agent's decisions?</a:t>
            </a:r>
          </a:p>
        </p:txBody>
      </p:sp>
      <p:sp>
        <p:nvSpPr>
          <p:cNvPr id="32" name="TextBox 31"/>
          <p:cNvSpPr txBox="1"/>
          <p:nvPr/>
        </p:nvSpPr>
        <p:spPr>
          <a:xfrm>
            <a:off x="502920" y="5779008"/>
            <a:ext cx="11183112" cy="228600"/>
          </a:xfrm>
          <a:prstGeom prst="rect">
            <a:avLst/>
          </a:prstGeom>
          <a:noFill/>
        </p:spPr>
        <p:txBody>
          <a:bodyPr wrap="square" lIns="0" rIns="0" tIns="0" bIns="0" anchor="t">
            <a:spAutoFit/>
          </a:bodyPr>
          <a:lstStyle/>
          <a:p>
            <a:pPr>
              <a:lnSpc>
                <a:spcPct val="108000"/>
              </a:lnSpc>
              <a:spcBef>
                <a:spcPts val="0"/>
              </a:spcBef>
              <a:spcAft>
                <a:spcPts val="0"/>
              </a:spcAft>
              <a:defRPr sz="1230" b="0">
                <a:solidFill>
                  <a:srgbClr val="B6C4D9"/>
                </a:solidFill>
                <a:latin typeface="Arial"/>
              </a:defRPr>
            </a:pPr>
            <a:r>
              <a:t>Colosseum grounded the workplace setup; security and covert-channel papers motivated the observation test.</a:t>
            </a:r>
          </a:p>
        </p:txBody>
      </p:sp>
      <p:sp>
        <p:nvSpPr>
          <p:cNvPr id="33" name="TextBox 32"/>
          <p:cNvSpPr txBox="1"/>
          <p:nvPr/>
        </p:nvSpPr>
        <p:spPr>
          <a:xfrm>
            <a:off x="502920" y="6099048"/>
            <a:ext cx="11183112" cy="173736"/>
          </a:xfrm>
          <a:prstGeom prst="rect">
            <a:avLst/>
          </a:prstGeom>
          <a:noFill/>
        </p:spPr>
        <p:txBody>
          <a:bodyPr wrap="square" lIns="0" rIns="0" tIns="0" bIns="0" anchor="t">
            <a:spAutoFit/>
          </a:bodyPr>
          <a:lstStyle/>
          <a:p>
            <a:pPr>
              <a:lnSpc>
                <a:spcPct val="108000"/>
              </a:lnSpc>
              <a:spcBef>
                <a:spcPts val="0"/>
              </a:spcBef>
              <a:spcAft>
                <a:spcPts val="0"/>
              </a:spcAft>
              <a:defRPr sz="1040" b="0">
                <a:solidFill>
                  <a:srgbClr val="899AB4"/>
                </a:solidFill>
                <a:latin typeface="Arial"/>
              </a:defRPr>
            </a:pPr>
            <a:r>
              <a:t>No full FLOWSEAL / OCELOT / OrchDebate reproduction. Existing work already recognizes implicit-flow risks.</a:t>
            </a:r>
          </a:p>
        </p:txBody>
      </p:sp>
      <p:sp>
        <p:nvSpPr>
          <p:cNvPr id="34" name="TextBox 33">
            <a:hlinkClick r:id="rId2"/>
          </p:cNvPr>
          <p:cNvSpPr txBox="1"/>
          <p:nvPr/>
        </p:nvSpPr>
        <p:spPr>
          <a:xfrm>
            <a:off x="502920" y="6382512"/>
            <a:ext cx="3474720" cy="137160"/>
          </a:xfrm>
          <a:prstGeom prst="rect">
            <a:avLst/>
          </a:prstGeom>
          <a:noFill/>
        </p:spPr>
        <p:txBody>
          <a:bodyPr wrap="square" lIns="0" rIns="0" tIns="0" bIns="0" anchor="t">
            <a:spAutoFit/>
          </a:bodyPr>
          <a:lstStyle/>
          <a:p>
            <a:pPr>
              <a:lnSpc>
                <a:spcPct val="108000"/>
              </a:lnSpc>
              <a:spcBef>
                <a:spcPts val="0"/>
              </a:spcBef>
              <a:spcAft>
                <a:spcPts val="0"/>
              </a:spcAft>
              <a:defRPr sz="860" b="0">
                <a:solidFill>
                  <a:srgbClr val="B6C4D9"/>
                </a:solidFill>
                <a:latin typeface="Arial"/>
              </a:defRPr>
            </a:pPr>
            <a:r>
              <a:t>[S1] Microsoft CNA / vendor advisory</a:t>
            </a:r>
          </a:p>
        </p:txBody>
      </p:sp>
      <p:sp>
        <p:nvSpPr>
          <p:cNvPr id="35" name="TextBox 34">
            <a:hlinkClick r:id="rId3"/>
          </p:cNvPr>
          <p:cNvSpPr txBox="1"/>
          <p:nvPr/>
        </p:nvSpPr>
        <p:spPr>
          <a:xfrm>
            <a:off x="4306824" y="6382512"/>
            <a:ext cx="3474720" cy="137160"/>
          </a:xfrm>
          <a:prstGeom prst="rect">
            <a:avLst/>
          </a:prstGeom>
          <a:noFill/>
        </p:spPr>
        <p:txBody>
          <a:bodyPr wrap="square" lIns="0" rIns="0" tIns="0" bIns="0" anchor="t">
            <a:spAutoFit/>
          </a:bodyPr>
          <a:lstStyle/>
          <a:p>
            <a:pPr>
              <a:lnSpc>
                <a:spcPct val="108000"/>
              </a:lnSpc>
              <a:spcBef>
                <a:spcPts val="0"/>
              </a:spcBef>
              <a:spcAft>
                <a:spcPts val="0"/>
              </a:spcAft>
              <a:defRPr sz="860" b="0">
                <a:solidFill>
                  <a:srgbClr val="B6C4D9"/>
                </a:solidFill>
                <a:latin typeface="Arial"/>
              </a:defRPr>
            </a:pPr>
            <a:r>
              <a:t>[S2] Colosseum v2, §5.4 / Figure 4</a:t>
            </a:r>
          </a:p>
        </p:txBody>
      </p:sp>
      <p:sp>
        <p:nvSpPr>
          <p:cNvPr id="36" name="TextBox 35">
            <a:hlinkClick r:id="rId4"/>
          </p:cNvPr>
          <p:cNvSpPr txBox="1"/>
          <p:nvPr/>
        </p:nvSpPr>
        <p:spPr>
          <a:xfrm>
            <a:off x="8110727" y="6382512"/>
            <a:ext cx="3474720" cy="137160"/>
          </a:xfrm>
          <a:prstGeom prst="rect">
            <a:avLst/>
          </a:prstGeom>
          <a:noFill/>
        </p:spPr>
        <p:txBody>
          <a:bodyPr wrap="square" lIns="0" rIns="0" tIns="0" bIns="0" anchor="t">
            <a:spAutoFit/>
          </a:bodyPr>
          <a:lstStyle/>
          <a:p>
            <a:pPr>
              <a:lnSpc>
                <a:spcPct val="108000"/>
              </a:lnSpc>
              <a:spcBef>
                <a:spcPts val="0"/>
              </a:spcBef>
              <a:spcAft>
                <a:spcPts val="0"/>
              </a:spcAft>
              <a:defRPr sz="860" b="0">
                <a:solidFill>
                  <a:srgbClr val="B6C4D9"/>
                </a:solidFill>
                <a:latin typeface="Arial"/>
              </a:defRPr>
            </a:pPr>
            <a:r>
              <a:t>[S3] Hidden in Plain Text v2, §5.1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425"/>
        </a:solidFill>
        <a:effectLst/>
      </p:bgPr>
    </p:bg>
    <p:spTree>
      <p:nvGrpSpPr>
        <p:cNvPr id="1" name=""/>
        <p:cNvGrpSpPr/>
        <p:nvPr/>
      </p:nvGrpSpPr>
      <p:grpSpPr/>
      <p:sp>
        <p:nvSpPr>
          <p:cNvPr id="2" name="Rectangle 1"/>
          <p:cNvSpPr/>
          <p:nvPr/>
        </p:nvSpPr>
        <p:spPr>
          <a:xfrm>
            <a:off x="502920" y="329184"/>
            <a:ext cx="320040" cy="45720"/>
          </a:xfrm>
          <a:prstGeom prst="rect">
            <a:avLst/>
          </a:prstGeom>
          <a:solidFill>
            <a:srgbClr val="5AD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46888"/>
            <a:ext cx="10058400" cy="228600"/>
          </a:xfrm>
          <a:prstGeom prst="rect">
            <a:avLst/>
          </a:prstGeom>
          <a:noFill/>
        </p:spPr>
        <p:txBody>
          <a:bodyPr wrap="square" lIns="0" rIns="0" tIns="0" bIns="0" anchor="t">
            <a:spAutoFit/>
          </a:bodyPr>
          <a:lstStyle/>
          <a:p>
            <a:pPr>
              <a:lnSpc>
                <a:spcPct val="108000"/>
              </a:lnSpc>
              <a:spcBef>
                <a:spcPts val="0"/>
              </a:spcBef>
              <a:spcAft>
                <a:spcPts val="0"/>
              </a:spcAft>
              <a:defRPr sz="1050" b="1">
                <a:solidFill>
                  <a:srgbClr val="5AD7C3"/>
                </a:solidFill>
                <a:latin typeface="Arial"/>
              </a:defRPr>
            </a:pPr>
            <a:r>
              <a:t>02  /  MECHANISM</a:t>
            </a:r>
          </a:p>
        </p:txBody>
      </p:sp>
      <p:sp>
        <p:nvSpPr>
          <p:cNvPr id="4" name="TextBox 3"/>
          <p:cNvSpPr txBox="1"/>
          <p:nvPr/>
        </p:nvSpPr>
        <p:spPr>
          <a:xfrm>
            <a:off x="502920" y="649224"/>
            <a:ext cx="11183112" cy="594360"/>
          </a:xfrm>
          <a:prstGeom prst="rect">
            <a:avLst/>
          </a:prstGeom>
          <a:noFill/>
        </p:spPr>
        <p:txBody>
          <a:bodyPr wrap="square" lIns="0" rIns="0" tIns="0" bIns="0" anchor="t">
            <a:spAutoFit/>
          </a:bodyPr>
          <a:lstStyle/>
          <a:p>
            <a:pPr>
              <a:lnSpc>
                <a:spcPct val="108000"/>
              </a:lnSpc>
              <a:spcBef>
                <a:spcPts val="0"/>
              </a:spcBef>
              <a:spcAft>
                <a:spcPts val="0"/>
              </a:spcAft>
              <a:defRPr sz="2950" b="1">
                <a:solidFill>
                  <a:srgbClr val="F6F8FC"/>
                </a:solidFill>
                <a:latin typeface="Arial"/>
              </a:defRPr>
            </a:pPr>
            <a:r>
              <a:t>The combination reveals what either field hides</a:t>
            </a:r>
          </a:p>
        </p:txBody>
      </p:sp>
      <p:sp>
        <p:nvSpPr>
          <p:cNvPr id="5" name="TextBox 4"/>
          <p:cNvSpPr txBox="1"/>
          <p:nvPr/>
        </p:nvSpPr>
        <p:spPr>
          <a:xfrm>
            <a:off x="502920" y="1271016"/>
            <a:ext cx="11155680" cy="420624"/>
          </a:xfrm>
          <a:prstGeom prst="rect">
            <a:avLst/>
          </a:prstGeom>
          <a:noFill/>
        </p:spPr>
        <p:txBody>
          <a:bodyPr wrap="square" lIns="0" rIns="0" tIns="0" bIns="0" anchor="t">
            <a:spAutoFit/>
          </a:bodyPr>
          <a:lstStyle/>
          <a:p>
            <a:pPr>
              <a:lnSpc>
                <a:spcPct val="108000"/>
              </a:lnSpc>
              <a:spcBef>
                <a:spcPts val="0"/>
              </a:spcBef>
              <a:spcAft>
                <a:spcPts val="0"/>
              </a:spcAft>
              <a:defRPr sz="1430" b="0">
                <a:solidFill>
                  <a:srgbClr val="B6C4D9"/>
                </a:solidFill>
                <a:latin typeface="Arial"/>
              </a:defRPr>
            </a:pPr>
            <a:r>
              <a:t>A supplied-codebook experiment isolates one path: source attestation → host metadata → receiver decision.</a:t>
            </a:r>
          </a:p>
        </p:txBody>
      </p:sp>
      <p:sp>
        <p:nvSpPr>
          <p:cNvPr id="6" name="TextBox 5"/>
          <p:cNvSpPr txBox="1"/>
          <p:nvPr/>
        </p:nvSpPr>
        <p:spPr>
          <a:xfrm>
            <a:off x="502920" y="6583680"/>
            <a:ext cx="9875520" cy="137160"/>
          </a:xfrm>
          <a:prstGeom prst="rect">
            <a:avLst/>
          </a:prstGeom>
          <a:noFill/>
        </p:spPr>
        <p:txBody>
          <a:bodyPr wrap="square" lIns="0" rIns="0" tIns="0" bIns="0" anchor="t">
            <a:spAutoFit/>
          </a:bodyPr>
          <a:lstStyle/>
          <a:p>
            <a:pPr>
              <a:lnSpc>
                <a:spcPct val="108000"/>
              </a:lnSpc>
              <a:spcBef>
                <a:spcPts val="0"/>
              </a:spcBef>
              <a:spcAft>
                <a:spcPts val="0"/>
              </a:spcAft>
              <a:defRPr sz="850" b="0">
                <a:solidFill>
                  <a:srgbClr val="899AB4"/>
                </a:solidFill>
                <a:latin typeface="Arial"/>
              </a:defRPr>
            </a:pPr>
            <a:r>
              <a:t>15 OCT 2026  |  PRE-SPRINT EVIDENCE  |  AI-ASSISTED BRIEFING</a:t>
            </a:r>
          </a:p>
        </p:txBody>
      </p:sp>
      <p:sp>
        <p:nvSpPr>
          <p:cNvPr id="7" name="TextBox 6"/>
          <p:cNvSpPr txBox="1"/>
          <p:nvPr/>
        </p:nvSpPr>
        <p:spPr>
          <a:xfrm>
            <a:off x="11064240" y="6556248"/>
            <a:ext cx="594360" cy="201168"/>
          </a:xfrm>
          <a:prstGeom prst="rect">
            <a:avLst/>
          </a:prstGeom>
          <a:noFill/>
        </p:spPr>
        <p:txBody>
          <a:bodyPr wrap="square" lIns="0" rIns="0" tIns="0" bIns="0" anchor="t">
            <a:spAutoFit/>
          </a:bodyPr>
          <a:lstStyle/>
          <a:p>
            <a:pPr algn="r">
              <a:lnSpc>
                <a:spcPct val="108000"/>
              </a:lnSpc>
              <a:spcBef>
                <a:spcPts val="0"/>
              </a:spcBef>
              <a:spcAft>
                <a:spcPts val="0"/>
              </a:spcAft>
              <a:defRPr sz="1019" b="0">
                <a:solidFill>
                  <a:srgbClr val="B6C4D9"/>
                </a:solidFill>
                <a:latin typeface="Arial"/>
              </a:defRPr>
            </a:pPr>
            <a:r>
              <a:t>2 / 5</a:t>
            </a:r>
          </a:p>
        </p:txBody>
      </p:sp>
      <p:sp>
        <p:nvSpPr>
          <p:cNvPr id="8" name="Rounded Rectangle 7"/>
          <p:cNvSpPr/>
          <p:nvPr/>
        </p:nvSpPr>
        <p:spPr>
          <a:xfrm>
            <a:off x="502920" y="1938528"/>
            <a:ext cx="2267712" cy="283464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139696"/>
            <a:ext cx="1883664" cy="210312"/>
          </a:xfrm>
          <a:prstGeom prst="rect">
            <a:avLst/>
          </a:prstGeom>
          <a:noFill/>
        </p:spPr>
        <p:txBody>
          <a:bodyPr wrap="square" lIns="0" rIns="0" tIns="0" bIns="0" anchor="t">
            <a:spAutoFit/>
          </a:bodyPr>
          <a:lstStyle/>
          <a:p>
            <a:pPr>
              <a:lnSpc>
                <a:spcPct val="108000"/>
              </a:lnSpc>
              <a:spcBef>
                <a:spcPts val="0"/>
              </a:spcBef>
              <a:spcAft>
                <a:spcPts val="0"/>
              </a:spcAft>
              <a:defRPr sz="1160" b="1">
                <a:solidFill>
                  <a:srgbClr val="5AD7C3"/>
                </a:solidFill>
                <a:latin typeface="Arial"/>
              </a:defRPr>
            </a:pPr>
            <a:r>
              <a:t>SOURCE MODEL</a:t>
            </a:r>
          </a:p>
        </p:txBody>
      </p:sp>
      <p:sp>
        <p:nvSpPr>
          <p:cNvPr id="10" name="TextBox 9"/>
          <p:cNvSpPr txBox="1"/>
          <p:nvPr/>
        </p:nvSpPr>
        <p:spPr>
          <a:xfrm>
            <a:off x="694944" y="2660904"/>
            <a:ext cx="1883664" cy="320040"/>
          </a:xfrm>
          <a:prstGeom prst="rect">
            <a:avLst/>
          </a:prstGeom>
          <a:noFill/>
        </p:spPr>
        <p:txBody>
          <a:bodyPr wrap="square" lIns="0" rIns="0" tIns="0" bIns="0" anchor="t">
            <a:spAutoFit/>
          </a:bodyPr>
          <a:lstStyle/>
          <a:p>
            <a:pPr>
              <a:lnSpc>
                <a:spcPct val="108000"/>
              </a:lnSpc>
              <a:spcBef>
                <a:spcPts val="0"/>
              </a:spcBef>
              <a:spcAft>
                <a:spcPts val="0"/>
              </a:spcAft>
              <a:defRPr sz="2350" b="1">
                <a:solidFill>
                  <a:srgbClr val="F6F8FC"/>
                </a:solidFill>
                <a:latin typeface="Arial"/>
              </a:defRPr>
            </a:pPr>
            <a:r>
              <a:t>Private bit B</a:t>
            </a:r>
          </a:p>
        </p:txBody>
      </p:sp>
      <p:sp>
        <p:nvSpPr>
          <p:cNvPr id="11" name="TextBox 10"/>
          <p:cNvSpPr txBox="1"/>
          <p:nvPr/>
        </p:nvSpPr>
        <p:spPr>
          <a:xfrm>
            <a:off x="694944" y="3218688"/>
            <a:ext cx="1883664" cy="1024128"/>
          </a:xfrm>
          <a:prstGeom prst="rect">
            <a:avLst/>
          </a:prstGeom>
          <a:noFill/>
        </p:spPr>
        <p:txBody>
          <a:bodyPr wrap="square" lIns="0" rIns="0" tIns="0" bIns="0" anchor="t">
            <a:spAutoFit/>
          </a:bodyPr>
          <a:lstStyle/>
          <a:p>
            <a:pPr>
              <a:lnSpc>
                <a:spcPct val="108000"/>
              </a:lnSpc>
              <a:spcBef>
                <a:spcPts val="0"/>
              </a:spcBef>
              <a:spcAft>
                <a:spcPts val="0"/>
              </a:spcAft>
              <a:defRPr sz="1600" b="0">
                <a:solidFill>
                  <a:srgbClr val="F6F8FC"/>
                </a:solidFill>
                <a:latin typeface="Arial"/>
              </a:defRPr>
            </a:pPr>
            <a:r>
              <a:t>Copies B into A</a:t>
            </a:r>
          </a:p>
          <a:p>
            <a:pPr>
              <a:lnSpc>
                <a:spcPct val="108000"/>
              </a:lnSpc>
              <a:spcBef>
                <a:spcPts val="0"/>
              </a:spcBef>
              <a:spcAft>
                <a:spcPts val="0"/>
              </a:spcAft>
              <a:defRPr sz="1600" b="0">
                <a:solidFill>
                  <a:srgbClr val="F6F8FC"/>
                </a:solidFill>
                <a:latin typeface="Arial"/>
              </a:defRPr>
            </a:pPr>
            <a:r>
              <a:t>Response saved</a:t>
            </a:r>
          </a:p>
          <a:p>
            <a:pPr>
              <a:lnSpc>
                <a:spcPct val="108000"/>
              </a:lnSpc>
              <a:spcBef>
                <a:spcPts val="0"/>
              </a:spcBef>
              <a:spcAft>
                <a:spcPts val="0"/>
              </a:spcAft>
              <a:defRPr sz="1600" b="0">
                <a:solidFill>
                  <a:srgbClr val="F6F8FC"/>
                </a:solidFill>
                <a:latin typeface="Arial"/>
              </a:defRPr>
            </a:pPr>
            <a:r>
              <a:t>No mask R</a:t>
            </a:r>
          </a:p>
        </p:txBody>
      </p:sp>
      <p:sp>
        <p:nvSpPr>
          <p:cNvPr id="12" name="TextBox 11"/>
          <p:cNvSpPr txBox="1"/>
          <p:nvPr/>
        </p:nvSpPr>
        <p:spPr>
          <a:xfrm>
            <a:off x="694944" y="4379976"/>
            <a:ext cx="1883664" cy="246888"/>
          </a:xfrm>
          <a:prstGeom prst="rect">
            <a:avLst/>
          </a:prstGeom>
          <a:noFill/>
        </p:spPr>
        <p:txBody>
          <a:bodyPr wrap="square" lIns="0" rIns="0" tIns="0" bIns="0" anchor="t">
            <a:spAutoFit/>
          </a:bodyPr>
          <a:lstStyle/>
          <a:p>
            <a:pPr>
              <a:lnSpc>
                <a:spcPct val="108000"/>
              </a:lnSpc>
              <a:spcBef>
                <a:spcPts val="0"/>
              </a:spcBef>
              <a:spcAft>
                <a:spcPts val="0"/>
              </a:spcAft>
              <a:defRPr sz="1000" b="0">
                <a:solidFill>
                  <a:srgbClr val="B6C4D9"/>
                </a:solidFill>
                <a:latin typeface="Arial"/>
              </a:defRPr>
            </a:pPr>
            <a:r>
              <a:t>Neutral copying; no collusive goal</a:t>
            </a:r>
          </a:p>
        </p:txBody>
      </p:sp>
      <p:sp>
        <p:nvSpPr>
          <p:cNvPr id="13" name="TextBox 12"/>
          <p:cNvSpPr txBox="1"/>
          <p:nvPr/>
        </p:nvSpPr>
        <p:spPr>
          <a:xfrm>
            <a:off x="2825496" y="3172968"/>
            <a:ext cx="219456" cy="384048"/>
          </a:xfrm>
          <a:prstGeom prst="rect">
            <a:avLst/>
          </a:prstGeom>
          <a:noFill/>
        </p:spPr>
        <p:txBody>
          <a:bodyPr wrap="square" lIns="0" rIns="0" tIns="0" bIns="0" anchor="t">
            <a:spAutoFit/>
          </a:bodyPr>
          <a:lstStyle/>
          <a:p>
            <a:pPr>
              <a:lnSpc>
                <a:spcPct val="108000"/>
              </a:lnSpc>
              <a:spcBef>
                <a:spcPts val="0"/>
              </a:spcBef>
              <a:spcAft>
                <a:spcPts val="0"/>
              </a:spcAft>
              <a:defRPr sz="2900" b="1">
                <a:solidFill>
                  <a:srgbClr val="5AD7C3"/>
                </a:solidFill>
                <a:latin typeface="Arial"/>
              </a:defRPr>
            </a:pPr>
            <a:r>
              <a:t>›</a:t>
            </a:r>
          </a:p>
        </p:txBody>
      </p:sp>
      <p:sp>
        <p:nvSpPr>
          <p:cNvPr id="14" name="Rounded Rectangle 13"/>
          <p:cNvSpPr/>
          <p:nvPr/>
        </p:nvSpPr>
        <p:spPr>
          <a:xfrm>
            <a:off x="3127248" y="1938528"/>
            <a:ext cx="3813048" cy="283464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2139696"/>
            <a:ext cx="3392424" cy="210312"/>
          </a:xfrm>
          <a:prstGeom prst="rect">
            <a:avLst/>
          </a:prstGeom>
          <a:noFill/>
        </p:spPr>
        <p:txBody>
          <a:bodyPr wrap="square" lIns="0" rIns="0" tIns="0" bIns="0" anchor="t">
            <a:spAutoFit/>
          </a:bodyPr>
          <a:lstStyle/>
          <a:p>
            <a:pPr>
              <a:lnSpc>
                <a:spcPct val="108000"/>
              </a:lnSpc>
              <a:spcBef>
                <a:spcPts val="0"/>
              </a:spcBef>
              <a:spcAft>
                <a:spcPts val="0"/>
              </a:spcAft>
              <a:defRPr sz="1160" b="1">
                <a:solidFill>
                  <a:srgbClr val="5AD7C3"/>
                </a:solidFill>
                <a:latin typeface="Arial"/>
              </a:defRPr>
            </a:pPr>
            <a:r>
              <a:t>HOST MASKING</a:t>
            </a:r>
          </a:p>
        </p:txBody>
      </p:sp>
      <p:sp>
        <p:nvSpPr>
          <p:cNvPr id="16" name="Rounded Rectangle 15"/>
          <p:cNvSpPr/>
          <p:nvPr/>
        </p:nvSpPr>
        <p:spPr>
          <a:xfrm>
            <a:off x="3337560" y="2679192"/>
            <a:ext cx="1508760" cy="795528"/>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56632" y="2679192"/>
            <a:ext cx="1673352" cy="795528"/>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56432" y="2889504"/>
            <a:ext cx="1271016" cy="320040"/>
          </a:xfrm>
          <a:prstGeom prst="rect">
            <a:avLst/>
          </a:prstGeom>
          <a:noFill/>
        </p:spPr>
        <p:txBody>
          <a:bodyPr wrap="square" lIns="0" rIns="0" tIns="0" bIns="0" anchor="t">
            <a:spAutoFit/>
          </a:bodyPr>
          <a:lstStyle/>
          <a:p>
            <a:pPr algn="ctr">
              <a:lnSpc>
                <a:spcPct val="108000"/>
              </a:lnSpc>
              <a:spcBef>
                <a:spcPts val="0"/>
              </a:spcBef>
              <a:spcAft>
                <a:spcPts val="0"/>
              </a:spcAft>
              <a:defRPr sz="1610" b="1">
                <a:solidFill>
                  <a:srgbClr val="F6F8FC"/>
                </a:solidFill>
                <a:latin typeface="Arial"/>
              </a:defRPr>
            </a:pPr>
            <a:r>
              <a:t>Label bit = R</a:t>
            </a:r>
          </a:p>
        </p:txBody>
      </p:sp>
      <p:sp>
        <p:nvSpPr>
          <p:cNvPr id="19" name="TextBox 18"/>
          <p:cNvSpPr txBox="1"/>
          <p:nvPr/>
        </p:nvSpPr>
        <p:spPr>
          <a:xfrm>
            <a:off x="5166360" y="2798064"/>
            <a:ext cx="1453896" cy="521207"/>
          </a:xfrm>
          <a:prstGeom prst="rect">
            <a:avLst/>
          </a:prstGeom>
          <a:noFill/>
        </p:spPr>
        <p:txBody>
          <a:bodyPr wrap="square" lIns="0" rIns="0" tIns="0" bIns="0" anchor="t">
            <a:spAutoFit/>
          </a:bodyPr>
          <a:lstStyle/>
          <a:p>
            <a:pPr algn="ctr">
              <a:lnSpc>
                <a:spcPct val="108000"/>
              </a:lnSpc>
              <a:spcBef>
                <a:spcPts val="0"/>
              </a:spcBef>
              <a:spcAft>
                <a:spcPts val="0"/>
              </a:spcAft>
              <a:defRPr sz="1520" b="1">
                <a:solidFill>
                  <a:srgbClr val="F6F8FC"/>
                </a:solidFill>
                <a:latin typeface="Arial"/>
              </a:defRPr>
            </a:pPr>
            <a:r>
              <a:t>Receipt bit =</a:t>
            </a:r>
          </a:p>
          <a:p>
            <a:pPr algn="ctr">
              <a:lnSpc>
                <a:spcPct val="108000"/>
              </a:lnSpc>
              <a:spcBef>
                <a:spcPts val="0"/>
              </a:spcBef>
              <a:spcAft>
                <a:spcPts val="0"/>
              </a:spcAft>
              <a:defRPr sz="1520" b="1">
                <a:solidFill>
                  <a:srgbClr val="F6F8FC"/>
                </a:solidFill>
                <a:latin typeface="Arial"/>
              </a:defRPr>
            </a:pPr>
            <a:r>
              <a:t>A ⊕ R ⊕ P</a:t>
            </a:r>
          </a:p>
        </p:txBody>
      </p:sp>
      <p:sp>
        <p:nvSpPr>
          <p:cNvPr id="20" name="TextBox 19"/>
          <p:cNvSpPr txBox="1"/>
          <p:nvPr/>
        </p:nvSpPr>
        <p:spPr>
          <a:xfrm>
            <a:off x="3337560" y="3685032"/>
            <a:ext cx="3392424" cy="256032"/>
          </a:xfrm>
          <a:prstGeom prst="rect">
            <a:avLst/>
          </a:prstGeom>
          <a:noFill/>
        </p:spPr>
        <p:txBody>
          <a:bodyPr wrap="square" lIns="0" rIns="0" tIns="0" bIns="0" anchor="t">
            <a:spAutoFit/>
          </a:bodyPr>
          <a:lstStyle/>
          <a:p>
            <a:pPr algn="ctr">
              <a:lnSpc>
                <a:spcPct val="108000"/>
              </a:lnSpc>
              <a:spcBef>
                <a:spcPts val="0"/>
              </a:spcBef>
              <a:spcAft>
                <a:spcPts val="0"/>
              </a:spcAft>
              <a:defRPr sz="1560" b="0">
                <a:solidFill>
                  <a:srgbClr val="B6C4D9"/>
                </a:solidFill>
                <a:latin typeface="Arial"/>
              </a:defRPr>
            </a:pPr>
            <a:r>
              <a:t>Each field alone hides B</a:t>
            </a:r>
          </a:p>
        </p:txBody>
      </p:sp>
      <p:sp>
        <p:nvSpPr>
          <p:cNvPr id="21" name="TextBox 20"/>
          <p:cNvSpPr txBox="1"/>
          <p:nvPr/>
        </p:nvSpPr>
        <p:spPr>
          <a:xfrm>
            <a:off x="3337560" y="4105656"/>
            <a:ext cx="3392424" cy="274320"/>
          </a:xfrm>
          <a:prstGeom prst="rect">
            <a:avLst/>
          </a:prstGeom>
          <a:noFill/>
        </p:spPr>
        <p:txBody>
          <a:bodyPr wrap="square" lIns="0" rIns="0" tIns="0" bIns="0" anchor="t">
            <a:spAutoFit/>
          </a:bodyPr>
          <a:lstStyle/>
          <a:p>
            <a:pPr algn="ctr">
              <a:lnSpc>
                <a:spcPct val="108000"/>
              </a:lnSpc>
              <a:spcBef>
                <a:spcPts val="0"/>
              </a:spcBef>
              <a:spcAft>
                <a:spcPts val="0"/>
              </a:spcAft>
              <a:defRPr sz="1900" b="1">
                <a:solidFill>
                  <a:srgbClr val="5AD7C3"/>
                </a:solidFill>
                <a:latin typeface="Arial"/>
              </a:defRPr>
            </a:pPr>
            <a:r>
              <a:t>Together: recover A</a:t>
            </a:r>
          </a:p>
        </p:txBody>
      </p:sp>
      <p:sp>
        <p:nvSpPr>
          <p:cNvPr id="22" name="TextBox 21"/>
          <p:cNvSpPr txBox="1"/>
          <p:nvPr/>
        </p:nvSpPr>
        <p:spPr>
          <a:xfrm>
            <a:off x="3337560" y="4498848"/>
            <a:ext cx="3392424" cy="155448"/>
          </a:xfrm>
          <a:prstGeom prst="rect">
            <a:avLst/>
          </a:prstGeom>
          <a:noFill/>
        </p:spPr>
        <p:txBody>
          <a:bodyPr wrap="square" lIns="0" rIns="0" tIns="0" bIns="0" anchor="t">
            <a:spAutoFit/>
          </a:bodyPr>
          <a:lstStyle/>
          <a:p>
            <a:pPr algn="ctr">
              <a:lnSpc>
                <a:spcPct val="108000"/>
              </a:lnSpc>
              <a:spcBef>
                <a:spcPts val="0"/>
              </a:spcBef>
              <a:spcAft>
                <a:spcPts val="0"/>
              </a:spcAft>
              <a:defRPr sz="910" b="0">
                <a:solidFill>
                  <a:srgbClr val="B6C4D9"/>
                </a:solidFill>
                <a:latin typeface="Arial"/>
              </a:defRPr>
            </a:pPr>
            <a:r>
              <a:t>Public P; label PASS/NORMALIZE; receipt 0/10</a:t>
            </a:r>
          </a:p>
        </p:txBody>
      </p:sp>
      <p:sp>
        <p:nvSpPr>
          <p:cNvPr id="23" name="TextBox 22"/>
          <p:cNvSpPr txBox="1"/>
          <p:nvPr/>
        </p:nvSpPr>
        <p:spPr>
          <a:xfrm>
            <a:off x="7059168" y="3172968"/>
            <a:ext cx="219456" cy="384048"/>
          </a:xfrm>
          <a:prstGeom prst="rect">
            <a:avLst/>
          </a:prstGeom>
          <a:noFill/>
        </p:spPr>
        <p:txBody>
          <a:bodyPr wrap="square" lIns="0" rIns="0" tIns="0" bIns="0" anchor="t">
            <a:spAutoFit/>
          </a:bodyPr>
          <a:lstStyle/>
          <a:p>
            <a:pPr>
              <a:lnSpc>
                <a:spcPct val="108000"/>
              </a:lnSpc>
              <a:spcBef>
                <a:spcPts val="0"/>
              </a:spcBef>
              <a:spcAft>
                <a:spcPts val="0"/>
              </a:spcAft>
              <a:defRPr sz="2900" b="1">
                <a:solidFill>
                  <a:srgbClr val="5AD7C3"/>
                </a:solidFill>
                <a:latin typeface="Arial"/>
              </a:defRPr>
            </a:pPr>
            <a:r>
              <a:t>›</a:t>
            </a:r>
          </a:p>
        </p:txBody>
      </p:sp>
      <p:sp>
        <p:nvSpPr>
          <p:cNvPr id="24" name="Rounded Rectangle 23"/>
          <p:cNvSpPr/>
          <p:nvPr/>
        </p:nvSpPr>
        <p:spPr>
          <a:xfrm>
            <a:off x="7424927" y="1938528"/>
            <a:ext cx="4261104" cy="283464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35240" y="2139696"/>
            <a:ext cx="3840480" cy="210312"/>
          </a:xfrm>
          <a:prstGeom prst="rect">
            <a:avLst/>
          </a:prstGeom>
          <a:noFill/>
        </p:spPr>
        <p:txBody>
          <a:bodyPr wrap="square" lIns="0" rIns="0" tIns="0" bIns="0" anchor="t">
            <a:spAutoFit/>
          </a:bodyPr>
          <a:lstStyle/>
          <a:p>
            <a:pPr>
              <a:lnSpc>
                <a:spcPct val="108000"/>
              </a:lnSpc>
              <a:spcBef>
                <a:spcPts val="0"/>
              </a:spcBef>
              <a:spcAft>
                <a:spcPts val="0"/>
              </a:spcAft>
              <a:defRPr sz="1160" b="1">
                <a:solidFill>
                  <a:srgbClr val="5AD7C3"/>
                </a:solidFill>
                <a:latin typeface="Arial"/>
              </a:defRPr>
            </a:pPr>
            <a:r>
              <a:t>RECEIVER MODEL</a:t>
            </a:r>
          </a:p>
        </p:txBody>
      </p:sp>
      <p:sp>
        <p:nvSpPr>
          <p:cNvPr id="26" name="TextBox 25"/>
          <p:cNvSpPr txBox="1"/>
          <p:nvPr/>
        </p:nvSpPr>
        <p:spPr>
          <a:xfrm>
            <a:off x="7635240" y="2688336"/>
            <a:ext cx="3840480" cy="338328"/>
          </a:xfrm>
          <a:prstGeom prst="rect">
            <a:avLst/>
          </a:prstGeom>
          <a:noFill/>
        </p:spPr>
        <p:txBody>
          <a:bodyPr wrap="square" lIns="0" rIns="0" tIns="0" bIns="0" anchor="t">
            <a:spAutoFit/>
          </a:bodyPr>
          <a:lstStyle/>
          <a:p>
            <a:pPr>
              <a:lnSpc>
                <a:spcPct val="108000"/>
              </a:lnSpc>
              <a:spcBef>
                <a:spcPts val="0"/>
              </a:spcBef>
              <a:spcAft>
                <a:spcPts val="0"/>
              </a:spcAft>
              <a:defRPr sz="1800" b="1">
                <a:solidFill>
                  <a:srgbClr val="F6F8FC"/>
                </a:solidFill>
                <a:latin typeface="Arial"/>
              </a:defRPr>
            </a:pPr>
            <a:r>
              <a:t>Supplied decoder + routing table</a:t>
            </a:r>
          </a:p>
        </p:txBody>
      </p:sp>
      <p:sp>
        <p:nvSpPr>
          <p:cNvPr id="27" name="TextBox 26"/>
          <p:cNvSpPr txBox="1"/>
          <p:nvPr/>
        </p:nvSpPr>
        <p:spPr>
          <a:xfrm>
            <a:off x="7635240" y="3246120"/>
            <a:ext cx="3840480" cy="969264"/>
          </a:xfrm>
          <a:prstGeom prst="rect">
            <a:avLst/>
          </a:prstGeom>
          <a:noFill/>
        </p:spPr>
        <p:txBody>
          <a:bodyPr wrap="square" lIns="0" rIns="0" tIns="0" bIns="0" anchor="t">
            <a:spAutoFit/>
          </a:bodyPr>
          <a:lstStyle/>
          <a:p>
            <a:pPr>
              <a:lnSpc>
                <a:spcPct val="108000"/>
              </a:lnSpc>
              <a:spcBef>
                <a:spcPts val="0"/>
              </a:spcBef>
              <a:spcAft>
                <a:spcPts val="0"/>
              </a:spcAft>
              <a:defRPr sz="1700" b="0">
                <a:solidFill>
                  <a:srgbClr val="F6F8FC"/>
                </a:solidFill>
                <a:latin typeface="Arial"/>
              </a:defRPr>
            </a:pPr>
            <a:r>
              <a:t>Choose SAFE / LEFT / RIGHT</a:t>
            </a:r>
          </a:p>
          <a:p>
            <a:pPr>
              <a:lnSpc>
                <a:spcPct val="108000"/>
              </a:lnSpc>
              <a:spcBef>
                <a:spcPts val="0"/>
              </a:spcBef>
              <a:spcAft>
                <a:spcPts val="0"/>
              </a:spcAft>
              <a:defRPr sz="1700" b="0">
                <a:solidFill>
                  <a:srgbClr val="F6F8FC"/>
                </a:solidFill>
                <a:latin typeface="Arial"/>
              </a:defRPr>
            </a:pPr>
            <a:r>
              <a:t>Correct bet +2  ·  Wrong bet −4</a:t>
            </a:r>
          </a:p>
          <a:p>
            <a:pPr>
              <a:lnSpc>
                <a:spcPct val="108000"/>
              </a:lnSpc>
              <a:spcBef>
                <a:spcPts val="0"/>
              </a:spcBef>
              <a:spcAft>
                <a:spcPts val="0"/>
              </a:spcAft>
              <a:defRPr sz="1700" b="0">
                <a:solidFill>
                  <a:srgbClr val="F6F8FC"/>
                </a:solidFill>
                <a:latin typeface="Arial"/>
              </a:defRPr>
            </a:pPr>
            <a:r>
              <a:t>Any accepted bet: owner utility −7</a:t>
            </a:r>
          </a:p>
        </p:txBody>
      </p:sp>
      <p:sp>
        <p:nvSpPr>
          <p:cNvPr id="28" name="TextBox 27"/>
          <p:cNvSpPr txBox="1"/>
          <p:nvPr/>
        </p:nvSpPr>
        <p:spPr>
          <a:xfrm>
            <a:off x="7635240" y="4425696"/>
            <a:ext cx="3840480" cy="182880"/>
          </a:xfrm>
          <a:prstGeom prst="rect">
            <a:avLst/>
          </a:prstGeom>
          <a:noFill/>
        </p:spPr>
        <p:txBody>
          <a:bodyPr wrap="square" lIns="0" rIns="0" tIns="0" bIns="0" anchor="t">
            <a:spAutoFit/>
          </a:bodyPr>
          <a:lstStyle/>
          <a:p>
            <a:pPr>
              <a:lnSpc>
                <a:spcPct val="108000"/>
              </a:lnSpc>
              <a:spcBef>
                <a:spcPts val="0"/>
              </a:spcBef>
              <a:spcAft>
                <a:spcPts val="0"/>
              </a:spcAft>
              <a:defRPr sz="1060" b="0">
                <a:solidFill>
                  <a:srgbClr val="B6C4D9"/>
                </a:solidFill>
                <a:latin typeface="Arial"/>
              </a:defRPr>
            </a:pPr>
            <a:r>
              <a:t>Inference and accepted action scored separately</a:t>
            </a:r>
          </a:p>
        </p:txBody>
      </p:sp>
      <p:sp>
        <p:nvSpPr>
          <p:cNvPr id="29" name="Rounded Rectangle 28"/>
          <p:cNvSpPr/>
          <p:nvPr/>
        </p:nvSpPr>
        <p:spPr>
          <a:xfrm>
            <a:off x="502920" y="5138928"/>
            <a:ext cx="11183112" cy="630936"/>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5340096"/>
            <a:ext cx="2487168" cy="201168"/>
          </a:xfrm>
          <a:prstGeom prst="rect">
            <a:avLst/>
          </a:prstGeom>
          <a:noFill/>
        </p:spPr>
        <p:txBody>
          <a:bodyPr wrap="square" lIns="0" rIns="0" tIns="0" bIns="0" anchor="t">
            <a:spAutoFit/>
          </a:bodyPr>
          <a:lstStyle/>
          <a:p>
            <a:pPr>
              <a:lnSpc>
                <a:spcPct val="108000"/>
              </a:lnSpc>
              <a:spcBef>
                <a:spcPts val="0"/>
              </a:spcBef>
              <a:spcAft>
                <a:spcPts val="0"/>
              </a:spcAft>
              <a:defRPr sz="1150" b="1">
                <a:solidFill>
                  <a:srgbClr val="5AD7C3"/>
                </a:solidFill>
                <a:latin typeface="Arial"/>
              </a:defRPr>
            </a:pPr>
            <a:r>
              <a:t>UNCHANGED PUBLIC PATH</a:t>
            </a:r>
          </a:p>
        </p:txBody>
      </p:sp>
      <p:sp>
        <p:nvSpPr>
          <p:cNvPr id="31" name="TextBox 30"/>
          <p:cNvSpPr txBox="1"/>
          <p:nvPr/>
        </p:nvSpPr>
        <p:spPr>
          <a:xfrm>
            <a:off x="3319272" y="5330952"/>
            <a:ext cx="8138160" cy="246888"/>
          </a:xfrm>
          <a:prstGeom prst="rect">
            <a:avLst/>
          </a:prstGeom>
          <a:noFill/>
        </p:spPr>
        <p:txBody>
          <a:bodyPr wrap="square" lIns="0" rIns="0" tIns="0" bIns="0" anchor="t">
            <a:spAutoFit/>
          </a:bodyPr>
          <a:lstStyle/>
          <a:p>
            <a:pPr>
              <a:lnSpc>
                <a:spcPct val="108000"/>
              </a:lnSpc>
              <a:spcBef>
                <a:spcPts val="0"/>
              </a:spcBef>
              <a:spcAft>
                <a:spcPts val="0"/>
              </a:spcAft>
              <a:defRPr sz="1430" b="0">
                <a:solidFill>
                  <a:srgbClr val="F6F8FC"/>
                </a:solidFill>
                <a:latin typeface="Arial"/>
              </a:defRPr>
            </a:pPr>
            <a:r>
              <a:t>Canonical schedule + checksum → receiver copies the same public artifact in every arm</a:t>
            </a:r>
          </a:p>
        </p:txBody>
      </p:sp>
      <p:sp>
        <p:nvSpPr>
          <p:cNvPr id="32" name="TextBox 31"/>
          <p:cNvSpPr txBox="1"/>
          <p:nvPr/>
        </p:nvSpPr>
        <p:spPr>
          <a:xfrm>
            <a:off x="502920" y="6044184"/>
            <a:ext cx="11183112" cy="228600"/>
          </a:xfrm>
          <a:prstGeom prst="rect">
            <a:avLst/>
          </a:prstGeom>
          <a:noFill/>
        </p:spPr>
        <p:txBody>
          <a:bodyPr wrap="square" lIns="0" rIns="0" tIns="0" bIns="0" anchor="t">
            <a:spAutoFit/>
          </a:bodyPr>
          <a:lstStyle/>
          <a:p>
            <a:pPr>
              <a:lnSpc>
                <a:spcPct val="108000"/>
              </a:lnSpc>
              <a:spcBef>
                <a:spcPts val="0"/>
              </a:spcBef>
              <a:spcAft>
                <a:spcPts val="0"/>
              </a:spcAft>
              <a:defRPr sz="1130" b="0">
                <a:solidFill>
                  <a:srgbClr val="F0C778"/>
                </a:solidFill>
                <a:latin typeface="Arial"/>
              </a:defRPr>
            </a:pPr>
            <a:r>
              <a:t>Joint target signal requires different realized source attestations for B=0 and B=1; source-copy accuracy is measured.</a:t>
            </a:r>
          </a:p>
        </p:txBody>
      </p:sp>
      <p:sp>
        <p:nvSpPr>
          <p:cNvPr id="33" name="TextBox 32"/>
          <p:cNvSpPr txBox="1"/>
          <p:nvPr/>
        </p:nvSpPr>
        <p:spPr>
          <a:xfrm>
            <a:off x="502920" y="6391656"/>
            <a:ext cx="11183112" cy="137160"/>
          </a:xfrm>
          <a:prstGeom prst="rect">
            <a:avLst/>
          </a:prstGeom>
          <a:noFill/>
        </p:spPr>
        <p:txBody>
          <a:bodyPr wrap="square" lIns="0" rIns="0" tIns="0" bIns="0" anchor="t">
            <a:spAutoFit/>
          </a:bodyPr>
          <a:lstStyle/>
          <a:p>
            <a:pPr>
              <a:lnSpc>
                <a:spcPct val="108000"/>
              </a:lnSpc>
              <a:spcBef>
                <a:spcPts val="0"/>
              </a:spcBef>
              <a:spcAft>
                <a:spcPts val="0"/>
              </a:spcAft>
              <a:defRPr sz="919" b="0">
                <a:solidFill>
                  <a:srgbClr val="899AB4"/>
                </a:solidFill>
                <a:latin typeface="Arial"/>
              </a:defRPr>
            </a:pPr>
            <a:r>
              <a:t>Earlier Jira context/access and resource-penalty diagnostics motivated isolating this channel; they are separate 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425"/>
        </a:solidFill>
        <a:effectLst/>
      </p:bgPr>
    </p:bg>
    <p:spTree>
      <p:nvGrpSpPr>
        <p:cNvPr id="1" name=""/>
        <p:cNvGrpSpPr/>
        <p:nvPr/>
      </p:nvGrpSpPr>
      <p:grpSpPr/>
      <p:sp>
        <p:nvSpPr>
          <p:cNvPr id="2" name="Rectangle 1"/>
          <p:cNvSpPr/>
          <p:nvPr/>
        </p:nvSpPr>
        <p:spPr>
          <a:xfrm>
            <a:off x="502920" y="329184"/>
            <a:ext cx="320040" cy="45720"/>
          </a:xfrm>
          <a:prstGeom prst="rect">
            <a:avLst/>
          </a:prstGeom>
          <a:solidFill>
            <a:srgbClr val="5AD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46888"/>
            <a:ext cx="10058400" cy="228600"/>
          </a:xfrm>
          <a:prstGeom prst="rect">
            <a:avLst/>
          </a:prstGeom>
          <a:noFill/>
        </p:spPr>
        <p:txBody>
          <a:bodyPr wrap="square" lIns="0" rIns="0" tIns="0" bIns="0" anchor="t">
            <a:spAutoFit/>
          </a:bodyPr>
          <a:lstStyle/>
          <a:p>
            <a:pPr>
              <a:lnSpc>
                <a:spcPct val="108000"/>
              </a:lnSpc>
              <a:spcBef>
                <a:spcPts val="0"/>
              </a:spcBef>
              <a:spcAft>
                <a:spcPts val="0"/>
              </a:spcAft>
              <a:defRPr sz="1050" b="1">
                <a:solidFill>
                  <a:srgbClr val="5AD7C3"/>
                </a:solidFill>
                <a:latin typeface="Arial"/>
              </a:defRPr>
            </a:pPr>
            <a:r>
              <a:t>03  /  VALIDATION</a:t>
            </a:r>
          </a:p>
        </p:txBody>
      </p:sp>
      <p:sp>
        <p:nvSpPr>
          <p:cNvPr id="4" name="TextBox 3"/>
          <p:cNvSpPr txBox="1"/>
          <p:nvPr/>
        </p:nvSpPr>
        <p:spPr>
          <a:xfrm>
            <a:off x="502920" y="649224"/>
            <a:ext cx="11183112" cy="594360"/>
          </a:xfrm>
          <a:prstGeom prst="rect">
            <a:avLst/>
          </a:prstGeom>
          <a:noFill/>
        </p:spPr>
        <p:txBody>
          <a:bodyPr wrap="square" lIns="0" rIns="0" tIns="0" bIns="0" anchor="t">
            <a:spAutoFit/>
          </a:bodyPr>
          <a:lstStyle/>
          <a:p>
            <a:pPr>
              <a:lnSpc>
                <a:spcPct val="108000"/>
              </a:lnSpc>
              <a:spcBef>
                <a:spcPts val="0"/>
              </a:spcBef>
              <a:spcAft>
                <a:spcPts val="0"/>
              </a:spcAft>
              <a:defRPr sz="2950" b="1">
                <a:solidFill>
                  <a:srgbClr val="F6F8FC"/>
                </a:solidFill>
                <a:latin typeface="Arial"/>
              </a:defRPr>
            </a:pPr>
            <a:r>
              <a:t>One mechanism, distinct controls, fixed tests</a:t>
            </a:r>
          </a:p>
        </p:txBody>
      </p:sp>
      <p:sp>
        <p:nvSpPr>
          <p:cNvPr id="5" name="TextBox 4"/>
          <p:cNvSpPr txBox="1"/>
          <p:nvPr/>
        </p:nvSpPr>
        <p:spPr>
          <a:xfrm>
            <a:off x="502920" y="1271016"/>
            <a:ext cx="11155680" cy="420624"/>
          </a:xfrm>
          <a:prstGeom prst="rect">
            <a:avLst/>
          </a:prstGeom>
          <a:noFill/>
        </p:spPr>
        <p:txBody>
          <a:bodyPr wrap="square" lIns="0" rIns="0" tIns="0" bIns="0" anchor="t">
            <a:spAutoFit/>
          </a:bodyPr>
          <a:lstStyle/>
          <a:p>
            <a:pPr>
              <a:lnSpc>
                <a:spcPct val="108000"/>
              </a:lnSpc>
              <a:spcBef>
                <a:spcPts val="0"/>
              </a:spcBef>
              <a:spcAft>
                <a:spcPts val="0"/>
              </a:spcAft>
              <a:defRPr sz="1430" b="0">
                <a:solidFill>
                  <a:srgbClr val="B6C4D9"/>
                </a:solidFill>
                <a:latin typeface="Arial"/>
              </a:defRPr>
            </a:pPr>
            <a:r>
              <a:t>The actual observation, policy announcement and stochastic response are tested separately.</a:t>
            </a:r>
          </a:p>
        </p:txBody>
      </p:sp>
      <p:sp>
        <p:nvSpPr>
          <p:cNvPr id="6" name="TextBox 5"/>
          <p:cNvSpPr txBox="1"/>
          <p:nvPr/>
        </p:nvSpPr>
        <p:spPr>
          <a:xfrm>
            <a:off x="502920" y="6583680"/>
            <a:ext cx="9875520" cy="137160"/>
          </a:xfrm>
          <a:prstGeom prst="rect">
            <a:avLst/>
          </a:prstGeom>
          <a:noFill/>
        </p:spPr>
        <p:txBody>
          <a:bodyPr wrap="square" lIns="0" rIns="0" tIns="0" bIns="0" anchor="t">
            <a:spAutoFit/>
          </a:bodyPr>
          <a:lstStyle/>
          <a:p>
            <a:pPr>
              <a:lnSpc>
                <a:spcPct val="108000"/>
              </a:lnSpc>
              <a:spcBef>
                <a:spcPts val="0"/>
              </a:spcBef>
              <a:spcAft>
                <a:spcPts val="0"/>
              </a:spcAft>
              <a:defRPr sz="850" b="0">
                <a:solidFill>
                  <a:srgbClr val="899AB4"/>
                </a:solidFill>
                <a:latin typeface="Arial"/>
              </a:defRPr>
            </a:pPr>
            <a:r>
              <a:t>15 OCT 2026  |  PRE-SPRINT EVIDENCE  |  AI-ASSISTED BRIEFING</a:t>
            </a:r>
          </a:p>
        </p:txBody>
      </p:sp>
      <p:sp>
        <p:nvSpPr>
          <p:cNvPr id="7" name="TextBox 6"/>
          <p:cNvSpPr txBox="1"/>
          <p:nvPr/>
        </p:nvSpPr>
        <p:spPr>
          <a:xfrm>
            <a:off x="11064240" y="6556248"/>
            <a:ext cx="594360" cy="201168"/>
          </a:xfrm>
          <a:prstGeom prst="rect">
            <a:avLst/>
          </a:prstGeom>
          <a:noFill/>
        </p:spPr>
        <p:txBody>
          <a:bodyPr wrap="square" lIns="0" rIns="0" tIns="0" bIns="0" anchor="t">
            <a:spAutoFit/>
          </a:bodyPr>
          <a:lstStyle/>
          <a:p>
            <a:pPr algn="r">
              <a:lnSpc>
                <a:spcPct val="108000"/>
              </a:lnSpc>
              <a:spcBef>
                <a:spcPts val="0"/>
              </a:spcBef>
              <a:spcAft>
                <a:spcPts val="0"/>
              </a:spcAft>
              <a:defRPr sz="1019" b="0">
                <a:solidFill>
                  <a:srgbClr val="B6C4D9"/>
                </a:solidFill>
                <a:latin typeface="Arial"/>
              </a:defRPr>
            </a:pPr>
            <a:r>
              <a:t>3 / 5</a:t>
            </a:r>
          </a:p>
        </p:txBody>
      </p:sp>
      <p:sp>
        <p:nvSpPr>
          <p:cNvPr id="8" name="TextBox 7"/>
          <p:cNvSpPr txBox="1"/>
          <p:nvPr/>
        </p:nvSpPr>
        <p:spPr>
          <a:xfrm>
            <a:off x="612648" y="1810512"/>
            <a:ext cx="1975103" cy="201168"/>
          </a:xfrm>
          <a:prstGeom prst="rect">
            <a:avLst/>
          </a:prstGeom>
          <a:noFill/>
        </p:spPr>
        <p:txBody>
          <a:bodyPr wrap="square" lIns="0" rIns="0" tIns="0" bIns="0" anchor="t">
            <a:spAutoFit/>
          </a:bodyPr>
          <a:lstStyle/>
          <a:p>
            <a:pPr>
              <a:lnSpc>
                <a:spcPct val="108000"/>
              </a:lnSpc>
              <a:spcBef>
                <a:spcPts val="0"/>
              </a:spcBef>
              <a:spcAft>
                <a:spcPts val="0"/>
              </a:spcAft>
              <a:defRPr sz="1030" b="1">
                <a:solidFill>
                  <a:srgbClr val="5AD7C3"/>
                </a:solidFill>
                <a:latin typeface="Arial"/>
              </a:defRPr>
            </a:pPr>
            <a:r>
              <a:t>QUESTION</a:t>
            </a:r>
          </a:p>
        </p:txBody>
      </p:sp>
      <p:sp>
        <p:nvSpPr>
          <p:cNvPr id="9" name="TextBox 8"/>
          <p:cNvSpPr txBox="1"/>
          <p:nvPr/>
        </p:nvSpPr>
        <p:spPr>
          <a:xfrm>
            <a:off x="2788920" y="1810512"/>
            <a:ext cx="4553712" cy="201168"/>
          </a:xfrm>
          <a:prstGeom prst="rect">
            <a:avLst/>
          </a:prstGeom>
          <a:noFill/>
        </p:spPr>
        <p:txBody>
          <a:bodyPr wrap="square" lIns="0" rIns="0" tIns="0" bIns="0" anchor="t">
            <a:spAutoFit/>
          </a:bodyPr>
          <a:lstStyle/>
          <a:p>
            <a:pPr>
              <a:lnSpc>
                <a:spcPct val="108000"/>
              </a:lnSpc>
              <a:spcBef>
                <a:spcPts val="0"/>
              </a:spcBef>
              <a:spcAft>
                <a:spcPts val="0"/>
              </a:spcAft>
              <a:defRPr sz="1030" b="1">
                <a:solidFill>
                  <a:srgbClr val="5AD7C3"/>
                </a:solidFill>
                <a:latin typeface="Arial"/>
              </a:defRPr>
            </a:pPr>
            <a:r>
              <a:t>CONTROL / CHANGE</a:t>
            </a:r>
          </a:p>
        </p:txBody>
      </p:sp>
      <p:sp>
        <p:nvSpPr>
          <p:cNvPr id="10" name="TextBox 9"/>
          <p:cNvSpPr txBox="1"/>
          <p:nvPr/>
        </p:nvSpPr>
        <p:spPr>
          <a:xfrm>
            <a:off x="7543800" y="1810512"/>
            <a:ext cx="4050792" cy="201168"/>
          </a:xfrm>
          <a:prstGeom prst="rect">
            <a:avLst/>
          </a:prstGeom>
          <a:noFill/>
        </p:spPr>
        <p:txBody>
          <a:bodyPr wrap="square" lIns="0" rIns="0" tIns="0" bIns="0" anchor="t">
            <a:spAutoFit/>
          </a:bodyPr>
          <a:lstStyle/>
          <a:p>
            <a:pPr>
              <a:lnSpc>
                <a:spcPct val="108000"/>
              </a:lnSpc>
              <a:spcBef>
                <a:spcPts val="0"/>
              </a:spcBef>
              <a:spcAft>
                <a:spcPts val="0"/>
              </a:spcAft>
              <a:defRPr sz="1030" b="1">
                <a:solidFill>
                  <a:srgbClr val="5AD7C3"/>
                </a:solidFill>
                <a:latin typeface="Arial"/>
              </a:defRPr>
            </a:pPr>
            <a:r>
              <a:t>WHY IT IS NEEDED</a:t>
            </a:r>
          </a:p>
        </p:txBody>
      </p:sp>
      <p:sp>
        <p:nvSpPr>
          <p:cNvPr id="11" name="Rounded Rectangle 10"/>
          <p:cNvSpPr/>
          <p:nvPr/>
        </p:nvSpPr>
        <p:spPr>
          <a:xfrm>
            <a:off x="502920" y="2139696"/>
            <a:ext cx="11183112" cy="41148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249424"/>
            <a:ext cx="1956815" cy="228600"/>
          </a:xfrm>
          <a:prstGeom prst="rect">
            <a:avLst/>
          </a:prstGeom>
          <a:noFill/>
        </p:spPr>
        <p:txBody>
          <a:bodyPr wrap="square" lIns="0" rIns="0" tIns="0" bIns="0" anchor="t">
            <a:spAutoFit/>
          </a:bodyPr>
          <a:lstStyle/>
          <a:p>
            <a:pPr>
              <a:lnSpc>
                <a:spcPct val="108000"/>
              </a:lnSpc>
              <a:spcBef>
                <a:spcPts val="0"/>
              </a:spcBef>
              <a:spcAft>
                <a:spcPts val="0"/>
              </a:spcAft>
              <a:defRPr sz="1060" b="1">
                <a:solidFill>
                  <a:srgbClr val="5AD7C3"/>
                </a:solidFill>
                <a:latin typeface="Arial"/>
              </a:defRPr>
            </a:pPr>
            <a:r>
              <a:t>AVAILABILITY</a:t>
            </a:r>
          </a:p>
        </p:txBody>
      </p:sp>
      <p:sp>
        <p:nvSpPr>
          <p:cNvPr id="13" name="TextBox 12"/>
          <p:cNvSpPr txBox="1"/>
          <p:nvPr/>
        </p:nvSpPr>
        <p:spPr>
          <a:xfrm>
            <a:off x="2788920" y="2249424"/>
            <a:ext cx="453542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Joint vs complete fixed metadata view</a:t>
            </a:r>
          </a:p>
        </p:txBody>
      </p:sp>
      <p:sp>
        <p:nvSpPr>
          <p:cNvPr id="14" name="TextBox 13"/>
          <p:cNvSpPr txBox="1"/>
          <p:nvPr/>
        </p:nvSpPr>
        <p:spPr>
          <a:xfrm>
            <a:off x="7543800" y="2249424"/>
            <a:ext cx="403250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An effect without target-bearing input</a:t>
            </a:r>
          </a:p>
        </p:txBody>
      </p:sp>
      <p:sp>
        <p:nvSpPr>
          <p:cNvPr id="15" name="Rounded Rectangle 14"/>
          <p:cNvSpPr/>
          <p:nvPr/>
        </p:nvSpPr>
        <p:spPr>
          <a:xfrm>
            <a:off x="502920" y="2606039"/>
            <a:ext cx="11183112" cy="411480"/>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2715768"/>
            <a:ext cx="1956815" cy="228600"/>
          </a:xfrm>
          <a:prstGeom prst="rect">
            <a:avLst/>
          </a:prstGeom>
          <a:noFill/>
        </p:spPr>
        <p:txBody>
          <a:bodyPr wrap="square" lIns="0" rIns="0" tIns="0" bIns="0" anchor="t">
            <a:spAutoFit/>
          </a:bodyPr>
          <a:lstStyle/>
          <a:p>
            <a:pPr>
              <a:lnSpc>
                <a:spcPct val="108000"/>
              </a:lnSpc>
              <a:spcBef>
                <a:spcPts val="0"/>
              </a:spcBef>
              <a:spcAft>
                <a:spcPts val="0"/>
              </a:spcAft>
              <a:defRPr sz="1060" b="1">
                <a:solidFill>
                  <a:srgbClr val="5AD7C3"/>
                </a:solidFill>
                <a:latin typeface="Arial"/>
              </a:defRPr>
            </a:pPr>
            <a:r>
              <a:t>COMPONENT NECESSITY</a:t>
            </a:r>
          </a:p>
        </p:txBody>
      </p:sp>
      <p:sp>
        <p:nvSpPr>
          <p:cNvPr id="17" name="TextBox 16"/>
          <p:cNvSpPr txBox="1"/>
          <p:nvPr/>
        </p:nvSpPr>
        <p:spPr>
          <a:xfrm>
            <a:off x="2788920" y="2715768"/>
            <a:ext cx="453542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Label-only and receipt-only; balance both host pads</a:t>
            </a:r>
          </a:p>
        </p:txBody>
      </p:sp>
      <p:sp>
        <p:nvSpPr>
          <p:cNvPr id="18" name="TextBox 17"/>
          <p:cNvSpPr txBox="1"/>
          <p:nvPr/>
        </p:nvSpPr>
        <p:spPr>
          <a:xfrm>
            <a:off x="7543800" y="2715768"/>
            <a:ext cx="403250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A shortcut carried by either field alone</a:t>
            </a:r>
          </a:p>
        </p:txBody>
      </p:sp>
      <p:sp>
        <p:nvSpPr>
          <p:cNvPr id="19" name="Rounded Rectangle 18"/>
          <p:cNvSpPr/>
          <p:nvPr/>
        </p:nvSpPr>
        <p:spPr>
          <a:xfrm>
            <a:off x="502920" y="3072384"/>
            <a:ext cx="11183112" cy="41148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 y="3182112"/>
            <a:ext cx="1956815" cy="228600"/>
          </a:xfrm>
          <a:prstGeom prst="rect">
            <a:avLst/>
          </a:prstGeom>
          <a:noFill/>
        </p:spPr>
        <p:txBody>
          <a:bodyPr wrap="square" lIns="0" rIns="0" tIns="0" bIns="0" anchor="t">
            <a:spAutoFit/>
          </a:bodyPr>
          <a:lstStyle/>
          <a:p>
            <a:pPr>
              <a:lnSpc>
                <a:spcPct val="108000"/>
              </a:lnSpc>
              <a:spcBef>
                <a:spcPts val="0"/>
              </a:spcBef>
              <a:spcAft>
                <a:spcPts val="0"/>
              </a:spcAft>
              <a:defRPr sz="1060" b="1">
                <a:solidFill>
                  <a:srgbClr val="5AD7C3"/>
                </a:solidFill>
                <a:latin typeface="Arial"/>
              </a:defRPr>
            </a:pPr>
            <a:r>
              <a:t>TARGET SPECIFICITY</a:t>
            </a:r>
          </a:p>
        </p:txBody>
      </p:sp>
      <p:sp>
        <p:nvSpPr>
          <p:cNvPr id="21" name="TextBox 20"/>
          <p:cNvSpPr txBox="1"/>
          <p:nvPr/>
        </p:nvSpPr>
        <p:spPr>
          <a:xfrm>
            <a:off x="2788920" y="3182112"/>
            <a:ext cx="453542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Same-format codeword from a fixed target-independent donor</a:t>
            </a:r>
          </a:p>
        </p:txBody>
      </p:sp>
      <p:sp>
        <p:nvSpPr>
          <p:cNvPr id="22" name="TextBox 21"/>
          <p:cNvSpPr txBox="1"/>
          <p:nvPr/>
        </p:nvSpPr>
        <p:spPr>
          <a:xfrm>
            <a:off x="7543800" y="3182112"/>
            <a:ext cx="403250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Reaction to any plausible-looking codeword</a:t>
            </a:r>
          </a:p>
        </p:txBody>
      </p:sp>
      <p:sp>
        <p:nvSpPr>
          <p:cNvPr id="23" name="Rounded Rectangle 22"/>
          <p:cNvSpPr/>
          <p:nvPr/>
        </p:nvSpPr>
        <p:spPr>
          <a:xfrm>
            <a:off x="502920" y="3538728"/>
            <a:ext cx="11183112" cy="411480"/>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 y="3648456"/>
            <a:ext cx="1956815" cy="228600"/>
          </a:xfrm>
          <a:prstGeom prst="rect">
            <a:avLst/>
          </a:prstGeom>
          <a:noFill/>
        </p:spPr>
        <p:txBody>
          <a:bodyPr wrap="square" lIns="0" rIns="0" tIns="0" bIns="0" anchor="t">
            <a:spAutoFit/>
          </a:bodyPr>
          <a:lstStyle/>
          <a:p>
            <a:pPr>
              <a:lnSpc>
                <a:spcPct val="108000"/>
              </a:lnSpc>
              <a:spcBef>
                <a:spcPts val="0"/>
              </a:spcBef>
              <a:spcAft>
                <a:spcPts val="0"/>
              </a:spcAft>
              <a:defRPr sz="1060" b="1">
                <a:solidFill>
                  <a:srgbClr val="5AD7C3"/>
                </a:solidFill>
                <a:latin typeface="Arial"/>
              </a:defRPr>
            </a:pPr>
            <a:r>
              <a:t>READING SENSITIVITY</a:t>
            </a:r>
          </a:p>
        </p:txBody>
      </p:sp>
      <p:sp>
        <p:nvSpPr>
          <p:cNvPr id="25" name="TextBox 24"/>
          <p:cNvSpPr txBox="1"/>
          <p:nvPr/>
        </p:nvSpPr>
        <p:spPr>
          <a:xfrm>
            <a:off x="2788920" y="3648456"/>
            <a:ext cx="453542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Authorized explicit target bit in a fixed metadata view</a:t>
            </a:r>
          </a:p>
        </p:txBody>
      </p:sp>
      <p:sp>
        <p:nvSpPr>
          <p:cNvPr id="26" name="TextBox 25"/>
          <p:cNvSpPr txBox="1"/>
          <p:nvPr/>
        </p:nvSpPr>
        <p:spPr>
          <a:xfrm>
            <a:off x="7543800" y="3648456"/>
            <a:ext cx="403250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Failure to read available information</a:t>
            </a:r>
          </a:p>
        </p:txBody>
      </p:sp>
      <p:sp>
        <p:nvSpPr>
          <p:cNvPr id="27" name="Rounded Rectangle 26"/>
          <p:cNvSpPr/>
          <p:nvPr/>
        </p:nvSpPr>
        <p:spPr>
          <a:xfrm>
            <a:off x="502920" y="4005072"/>
            <a:ext cx="11183112" cy="41148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 y="4114800"/>
            <a:ext cx="1956815" cy="228600"/>
          </a:xfrm>
          <a:prstGeom prst="rect">
            <a:avLst/>
          </a:prstGeom>
          <a:noFill/>
        </p:spPr>
        <p:txBody>
          <a:bodyPr wrap="square" lIns="0" rIns="0" tIns="0" bIns="0" anchor="t">
            <a:spAutoFit/>
          </a:bodyPr>
          <a:lstStyle/>
          <a:p>
            <a:pPr>
              <a:lnSpc>
                <a:spcPct val="108000"/>
              </a:lnSpc>
              <a:spcBef>
                <a:spcPts val="0"/>
              </a:spcBef>
              <a:spcAft>
                <a:spcPts val="0"/>
              </a:spcAft>
              <a:defRPr sz="1060" b="1">
                <a:solidFill>
                  <a:srgbClr val="5AD7C3"/>
                </a:solidFill>
                <a:latin typeface="Arial"/>
              </a:defRPr>
            </a:pPr>
            <a:r>
              <a:t>POLICY FRAMING</a:t>
            </a:r>
          </a:p>
        </p:txBody>
      </p:sp>
      <p:sp>
        <p:nvSpPr>
          <p:cNvPr id="29" name="TextBox 28"/>
          <p:cNvSpPr txBox="1"/>
          <p:nvPr/>
        </p:nvSpPr>
        <p:spPr>
          <a:xfrm>
            <a:off x="2788920" y="4114800"/>
            <a:ext cx="453542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Actual joint/full view × exact earlier marginal/full banners</a:t>
            </a:r>
          </a:p>
        </p:txBody>
      </p:sp>
      <p:sp>
        <p:nvSpPr>
          <p:cNvPr id="30" name="TextBox 29"/>
          <p:cNvSpPr txBox="1"/>
          <p:nvPr/>
        </p:nvSpPr>
        <p:spPr>
          <a:xfrm>
            <a:off x="7543800" y="4114800"/>
            <a:ext cx="403250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Confounding data with privacy instructions</a:t>
            </a:r>
          </a:p>
        </p:txBody>
      </p:sp>
      <p:sp>
        <p:nvSpPr>
          <p:cNvPr id="31" name="Rounded Rectangle 30"/>
          <p:cNvSpPr/>
          <p:nvPr/>
        </p:nvSpPr>
        <p:spPr>
          <a:xfrm>
            <a:off x="502920" y="4471416"/>
            <a:ext cx="11183112" cy="411480"/>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2648" y="4581144"/>
            <a:ext cx="1956815" cy="228600"/>
          </a:xfrm>
          <a:prstGeom prst="rect">
            <a:avLst/>
          </a:prstGeom>
          <a:noFill/>
        </p:spPr>
        <p:txBody>
          <a:bodyPr wrap="square" lIns="0" rIns="0" tIns="0" bIns="0" anchor="t">
            <a:spAutoFit/>
          </a:bodyPr>
          <a:lstStyle/>
          <a:p>
            <a:pPr>
              <a:lnSpc>
                <a:spcPct val="108000"/>
              </a:lnSpc>
              <a:spcBef>
                <a:spcPts val="0"/>
              </a:spcBef>
              <a:spcAft>
                <a:spcPts val="0"/>
              </a:spcAft>
              <a:defRPr sz="1060" b="1">
                <a:solidFill>
                  <a:srgbClr val="5AD7C3"/>
                </a:solidFill>
                <a:latin typeface="Arial"/>
              </a:defRPr>
            </a:pPr>
            <a:r>
              <a:t>RELIABILITY</a:t>
            </a:r>
          </a:p>
        </p:txBody>
      </p:sp>
      <p:sp>
        <p:nvSpPr>
          <p:cNvPr id="33" name="TextBox 32"/>
          <p:cNvSpPr txBox="1"/>
          <p:nvPr/>
        </p:nvSpPr>
        <p:spPr>
          <a:xfrm>
            <a:off x="2788920" y="4581144"/>
            <a:ext cx="453542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20 fresh worlds; two identical-input repeats per neutral arm</a:t>
            </a:r>
          </a:p>
        </p:txBody>
      </p:sp>
      <p:sp>
        <p:nvSpPr>
          <p:cNvPr id="34" name="TextBox 33"/>
          <p:cNvSpPr txBox="1"/>
          <p:nvPr/>
        </p:nvSpPr>
        <p:spPr>
          <a:xfrm>
            <a:off x="7543800" y="4581144"/>
            <a:ext cx="4032504"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Check fresh-world and response consistency</a:t>
            </a:r>
          </a:p>
        </p:txBody>
      </p:sp>
      <p:sp>
        <p:nvSpPr>
          <p:cNvPr id="35" name="Rounded Rectangle 34"/>
          <p:cNvSpPr/>
          <p:nvPr/>
        </p:nvSpPr>
        <p:spPr>
          <a:xfrm>
            <a:off x="502920" y="5193792"/>
            <a:ext cx="11183112" cy="448056"/>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 y="5340096"/>
            <a:ext cx="10853928" cy="201168"/>
          </a:xfrm>
          <a:prstGeom prst="rect">
            <a:avLst/>
          </a:prstGeom>
          <a:noFill/>
        </p:spPr>
        <p:txBody>
          <a:bodyPr wrap="square" lIns="0" rIns="0" tIns="0" bIns="0" anchor="t">
            <a:spAutoFit/>
          </a:bodyPr>
          <a:lstStyle/>
          <a:p>
            <a:pPr>
              <a:lnSpc>
                <a:spcPct val="108000"/>
              </a:lnSpc>
              <a:spcBef>
                <a:spcPts val="0"/>
              </a:spcBef>
              <a:spcAft>
                <a:spcPts val="0"/>
              </a:spcAft>
              <a:defRPr sz="1240" b="1">
                <a:solidFill>
                  <a:srgbClr val="F6F8FC"/>
                </a:solidFill>
                <a:latin typeface="Arial"/>
              </a:defRPr>
            </a:pPr>
            <a:r>
              <a:t>1,320 completed calls  ·  40 sources + 1,280 receivers  ·  GPT-4.1 mini  ·  T=.7  ·  max 1,500 tokens</a:t>
            </a:r>
          </a:p>
        </p:txBody>
      </p:sp>
      <p:sp>
        <p:nvSpPr>
          <p:cNvPr id="37" name="TextBox 36"/>
          <p:cNvSpPr txBox="1"/>
          <p:nvPr/>
        </p:nvSpPr>
        <p:spPr>
          <a:xfrm>
            <a:off x="502920" y="5815584"/>
            <a:ext cx="11183112" cy="228600"/>
          </a:xfrm>
          <a:prstGeom prst="rect">
            <a:avLst/>
          </a:prstGeom>
          <a:noFill/>
        </p:spPr>
        <p:txBody>
          <a:bodyPr wrap="square" lIns="0" rIns="0" tIns="0" bIns="0" anchor="t">
            <a:spAutoFit/>
          </a:bodyPr>
          <a:lstStyle/>
          <a:p>
            <a:pPr>
              <a:lnSpc>
                <a:spcPct val="108000"/>
              </a:lnSpc>
              <a:spcBef>
                <a:spcPts val="0"/>
              </a:spcBef>
              <a:spcAft>
                <a:spcPts val="0"/>
              </a:spcAft>
              <a:defRPr sz="1200" b="0">
                <a:solidFill>
                  <a:srgbClr val="B6C4D9"/>
                </a:solidFill>
                <a:latin typeface="Arial"/>
              </a:defRPr>
            </a:pPr>
            <a:r>
              <a:t>20 world blocks are the statistical units. Four primary paired contrasts; Holm correction; 20,000 world bootstraps.</a:t>
            </a:r>
          </a:p>
        </p:txBody>
      </p:sp>
      <p:sp>
        <p:nvSpPr>
          <p:cNvPr id="38" name="TextBox 37"/>
          <p:cNvSpPr txBox="1"/>
          <p:nvPr/>
        </p:nvSpPr>
        <p:spPr>
          <a:xfrm>
            <a:off x="502920" y="6126480"/>
            <a:ext cx="11183112" cy="192024"/>
          </a:xfrm>
          <a:prstGeom prst="rect">
            <a:avLst/>
          </a:prstGeom>
          <a:noFill/>
        </p:spPr>
        <p:txBody>
          <a:bodyPr wrap="square" lIns="0" rIns="0" tIns="0" bIns="0" anchor="t">
            <a:spAutoFit/>
          </a:bodyPr>
          <a:lstStyle/>
          <a:p>
            <a:pPr>
              <a:lnSpc>
                <a:spcPct val="108000"/>
              </a:lnSpc>
              <a:spcBef>
                <a:spcPts val="0"/>
              </a:spcBef>
              <a:spcAft>
                <a:spcPts val="0"/>
              </a:spcAft>
              <a:defRPr sz="1130" b="0">
                <a:solidFill>
                  <a:srgbClr val="B6C4D9"/>
                </a:solidFill>
                <a:latin typeface="Arial"/>
              </a:defRPr>
            </a:pPr>
            <a:r>
              <a:t>Frozen before this study's calls; exact requests retained; raw-field inference separated from accepted actions. No outcome retries.</a:t>
            </a:r>
          </a:p>
        </p:txBody>
      </p:sp>
      <p:sp>
        <p:nvSpPr>
          <p:cNvPr id="39" name="TextBox 38"/>
          <p:cNvSpPr txBox="1"/>
          <p:nvPr/>
        </p:nvSpPr>
        <p:spPr>
          <a:xfrm>
            <a:off x="502920" y="6391656"/>
            <a:ext cx="11183112" cy="137160"/>
          </a:xfrm>
          <a:prstGeom prst="rect">
            <a:avLst/>
          </a:prstGeom>
          <a:noFill/>
        </p:spPr>
        <p:txBody>
          <a:bodyPr wrap="square" lIns="0" rIns="0" tIns="0" bIns="0" anchor="t">
            <a:spAutoFit/>
          </a:bodyPr>
          <a:lstStyle/>
          <a:p>
            <a:pPr>
              <a:lnSpc>
                <a:spcPct val="108000"/>
              </a:lnSpc>
              <a:spcBef>
                <a:spcPts val="0"/>
              </a:spcBef>
              <a:spcAft>
                <a:spcPts val="0"/>
              </a:spcAft>
              <a:defRPr sz="890" b="0">
                <a:solidFill>
                  <a:srgbClr val="899AB4"/>
                </a:solidFill>
                <a:latin typeface="Arial"/>
              </a:defRPr>
            </a:pPr>
            <a:r>
              <a:t>Original metadata study: 0/4 primary tests supported. Later cohorts have separate prospective freezes; earlier outcomes remain in the record.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425"/>
        </a:solidFill>
        <a:effectLst/>
      </p:bgPr>
    </p:bg>
    <p:spTree>
      <p:nvGrpSpPr>
        <p:cNvPr id="1" name=""/>
        <p:cNvGrpSpPr/>
        <p:nvPr/>
      </p:nvGrpSpPr>
      <p:grpSpPr/>
      <p:sp>
        <p:nvSpPr>
          <p:cNvPr id="2" name="Rectangle 1"/>
          <p:cNvSpPr/>
          <p:nvPr/>
        </p:nvSpPr>
        <p:spPr>
          <a:xfrm>
            <a:off x="502920" y="329184"/>
            <a:ext cx="320040" cy="45720"/>
          </a:xfrm>
          <a:prstGeom prst="rect">
            <a:avLst/>
          </a:prstGeom>
          <a:solidFill>
            <a:srgbClr val="5AD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46888"/>
            <a:ext cx="10058400" cy="228600"/>
          </a:xfrm>
          <a:prstGeom prst="rect">
            <a:avLst/>
          </a:prstGeom>
          <a:noFill/>
        </p:spPr>
        <p:txBody>
          <a:bodyPr wrap="square" lIns="0" rIns="0" tIns="0" bIns="0" anchor="t">
            <a:spAutoFit/>
          </a:bodyPr>
          <a:lstStyle/>
          <a:p>
            <a:pPr>
              <a:lnSpc>
                <a:spcPct val="108000"/>
              </a:lnSpc>
              <a:spcBef>
                <a:spcPts val="0"/>
              </a:spcBef>
              <a:spcAft>
                <a:spcPts val="0"/>
              </a:spcAft>
              <a:defRPr sz="1050" b="1">
                <a:solidFill>
                  <a:srgbClr val="5AD7C3"/>
                </a:solidFill>
                <a:latin typeface="Arial"/>
              </a:defRPr>
            </a:pPr>
            <a:r>
              <a:t>04  /  RESULTS</a:t>
            </a:r>
          </a:p>
        </p:txBody>
      </p:sp>
      <p:sp>
        <p:nvSpPr>
          <p:cNvPr id="4" name="TextBox 3"/>
          <p:cNvSpPr txBox="1"/>
          <p:nvPr/>
        </p:nvSpPr>
        <p:spPr>
          <a:xfrm>
            <a:off x="502920" y="649224"/>
            <a:ext cx="11183112" cy="594360"/>
          </a:xfrm>
          <a:prstGeom prst="rect">
            <a:avLst/>
          </a:prstGeom>
          <a:noFill/>
        </p:spPr>
        <p:txBody>
          <a:bodyPr wrap="square" lIns="0" rIns="0" tIns="0" bIns="0" anchor="t">
            <a:spAutoFit/>
          </a:bodyPr>
          <a:lstStyle/>
          <a:p>
            <a:pPr>
              <a:lnSpc>
                <a:spcPct val="108000"/>
              </a:lnSpc>
              <a:spcBef>
                <a:spcPts val="0"/>
              </a:spcBef>
              <a:spcAft>
                <a:spcPts val="0"/>
              </a:spcAft>
              <a:defRPr sz="2950" b="1">
                <a:solidFill>
                  <a:srgbClr val="F6F8FC"/>
                </a:solidFill>
                <a:latin typeface="Arial"/>
              </a:defRPr>
            </a:pPr>
            <a:r>
              <a:t>Joint decoding passed all four held-out comparisons</a:t>
            </a:r>
          </a:p>
        </p:txBody>
      </p:sp>
      <p:sp>
        <p:nvSpPr>
          <p:cNvPr id="5" name="TextBox 4"/>
          <p:cNvSpPr txBox="1"/>
          <p:nvPr/>
        </p:nvSpPr>
        <p:spPr>
          <a:xfrm>
            <a:off x="502920" y="1271016"/>
            <a:ext cx="11155680" cy="420624"/>
          </a:xfrm>
          <a:prstGeom prst="rect">
            <a:avLst/>
          </a:prstGeom>
          <a:noFill/>
        </p:spPr>
        <p:txBody>
          <a:bodyPr wrap="square" lIns="0" rIns="0" tIns="0" bIns="0" anchor="t">
            <a:spAutoFit/>
          </a:bodyPr>
          <a:lstStyle/>
          <a:p>
            <a:pPr>
              <a:lnSpc>
                <a:spcPct val="108000"/>
              </a:lnSpc>
              <a:spcBef>
                <a:spcPts val="0"/>
              </a:spcBef>
              <a:spcAft>
                <a:spcPts val="0"/>
              </a:spcAft>
              <a:defRPr sz="1430" b="0">
                <a:solidFill>
                  <a:srgbClr val="B6C4D9"/>
                </a:solidFill>
                <a:latin typeface="Arial"/>
              </a:defRPr>
            </a:pPr>
            <a:r>
              <a:t>Four prespecified joint-minus-control contrasts, 20 worlds each. Intervals are descriptive world-cluster 95% bootstraps.</a:t>
            </a:r>
          </a:p>
        </p:txBody>
      </p:sp>
      <p:sp>
        <p:nvSpPr>
          <p:cNvPr id="6" name="TextBox 5"/>
          <p:cNvSpPr txBox="1"/>
          <p:nvPr/>
        </p:nvSpPr>
        <p:spPr>
          <a:xfrm>
            <a:off x="502920" y="6583680"/>
            <a:ext cx="9875520" cy="137160"/>
          </a:xfrm>
          <a:prstGeom prst="rect">
            <a:avLst/>
          </a:prstGeom>
          <a:noFill/>
        </p:spPr>
        <p:txBody>
          <a:bodyPr wrap="square" lIns="0" rIns="0" tIns="0" bIns="0" anchor="t">
            <a:spAutoFit/>
          </a:bodyPr>
          <a:lstStyle/>
          <a:p>
            <a:pPr>
              <a:lnSpc>
                <a:spcPct val="108000"/>
              </a:lnSpc>
              <a:spcBef>
                <a:spcPts val="0"/>
              </a:spcBef>
              <a:spcAft>
                <a:spcPts val="0"/>
              </a:spcAft>
              <a:defRPr sz="850" b="0">
                <a:solidFill>
                  <a:srgbClr val="899AB4"/>
                </a:solidFill>
                <a:latin typeface="Arial"/>
              </a:defRPr>
            </a:pPr>
            <a:r>
              <a:t>15 OCT 2026  |  PRE-SPRINT EVIDENCE  |  AI-ASSISTED BRIEFING</a:t>
            </a:r>
          </a:p>
        </p:txBody>
      </p:sp>
      <p:sp>
        <p:nvSpPr>
          <p:cNvPr id="7" name="TextBox 6"/>
          <p:cNvSpPr txBox="1"/>
          <p:nvPr/>
        </p:nvSpPr>
        <p:spPr>
          <a:xfrm>
            <a:off x="11064240" y="6556248"/>
            <a:ext cx="594360" cy="201168"/>
          </a:xfrm>
          <a:prstGeom prst="rect">
            <a:avLst/>
          </a:prstGeom>
          <a:noFill/>
        </p:spPr>
        <p:txBody>
          <a:bodyPr wrap="square" lIns="0" rIns="0" tIns="0" bIns="0" anchor="t">
            <a:spAutoFit/>
          </a:bodyPr>
          <a:lstStyle/>
          <a:p>
            <a:pPr algn="r">
              <a:lnSpc>
                <a:spcPct val="108000"/>
              </a:lnSpc>
              <a:spcBef>
                <a:spcPts val="0"/>
              </a:spcBef>
              <a:spcAft>
                <a:spcPts val="0"/>
              </a:spcAft>
              <a:defRPr sz="1019" b="0">
                <a:solidFill>
                  <a:srgbClr val="B6C4D9"/>
                </a:solidFill>
                <a:latin typeface="Arial"/>
              </a:defRPr>
            </a:pPr>
            <a:r>
              <a:t>4 / 5</a:t>
            </a:r>
          </a:p>
        </p:txBody>
      </p:sp>
      <p:sp>
        <p:nvSpPr>
          <p:cNvPr id="8" name="TextBox 7"/>
          <p:cNvSpPr txBox="1"/>
          <p:nvPr/>
        </p:nvSpPr>
        <p:spPr>
          <a:xfrm>
            <a:off x="594360" y="1856231"/>
            <a:ext cx="2084831" cy="182880"/>
          </a:xfrm>
          <a:prstGeom prst="rect">
            <a:avLst/>
          </a:prstGeom>
          <a:noFill/>
        </p:spPr>
        <p:txBody>
          <a:bodyPr wrap="square" lIns="0" rIns="0" tIns="0" bIns="0" anchor="t">
            <a:spAutoFit/>
          </a:bodyPr>
          <a:lstStyle/>
          <a:p>
            <a:pPr>
              <a:lnSpc>
                <a:spcPct val="108000"/>
              </a:lnSpc>
              <a:spcBef>
                <a:spcPts val="0"/>
              </a:spcBef>
              <a:spcAft>
                <a:spcPts val="0"/>
              </a:spcAft>
              <a:defRPr sz="1019" b="1">
                <a:solidFill>
                  <a:srgbClr val="5AD7C3"/>
                </a:solidFill>
                <a:latin typeface="Arial"/>
              </a:defRPr>
            </a:pPr>
            <a:r>
              <a:t>JOINT MINUS…</a:t>
            </a:r>
          </a:p>
        </p:txBody>
      </p:sp>
      <p:sp>
        <p:nvSpPr>
          <p:cNvPr id="9" name="TextBox 8"/>
          <p:cNvSpPr txBox="1"/>
          <p:nvPr/>
        </p:nvSpPr>
        <p:spPr>
          <a:xfrm>
            <a:off x="2843784" y="1856231"/>
            <a:ext cx="2743200" cy="182880"/>
          </a:xfrm>
          <a:prstGeom prst="rect">
            <a:avLst/>
          </a:prstGeom>
          <a:noFill/>
        </p:spPr>
        <p:txBody>
          <a:bodyPr wrap="square" lIns="0" rIns="0" tIns="0" bIns="0" anchor="t">
            <a:spAutoFit/>
          </a:bodyPr>
          <a:lstStyle/>
          <a:p>
            <a:pPr>
              <a:lnSpc>
                <a:spcPct val="108000"/>
              </a:lnSpc>
              <a:spcBef>
                <a:spcPts val="0"/>
              </a:spcBef>
              <a:spcAft>
                <a:spcPts val="0"/>
              </a:spcAft>
              <a:defRPr sz="1019" b="1">
                <a:solidFill>
                  <a:srgbClr val="5AD7C3"/>
                </a:solidFill>
                <a:latin typeface="Arial"/>
              </a:defRPr>
            </a:pPr>
            <a:r>
              <a:t>MEAN ΔS [95% INTERVAL]</a:t>
            </a:r>
          </a:p>
        </p:txBody>
      </p:sp>
      <p:sp>
        <p:nvSpPr>
          <p:cNvPr id="10" name="TextBox 9"/>
          <p:cNvSpPr txBox="1"/>
          <p:nvPr/>
        </p:nvSpPr>
        <p:spPr>
          <a:xfrm>
            <a:off x="5751576" y="1856231"/>
            <a:ext cx="1325880" cy="182880"/>
          </a:xfrm>
          <a:prstGeom prst="rect">
            <a:avLst/>
          </a:prstGeom>
          <a:noFill/>
        </p:spPr>
        <p:txBody>
          <a:bodyPr wrap="square" lIns="0" rIns="0" tIns="0" bIns="0" anchor="t">
            <a:spAutoFit/>
          </a:bodyPr>
          <a:lstStyle/>
          <a:p>
            <a:pPr>
              <a:lnSpc>
                <a:spcPct val="108000"/>
              </a:lnSpc>
              <a:spcBef>
                <a:spcPts val="0"/>
              </a:spcBef>
              <a:spcAft>
                <a:spcPts val="0"/>
              </a:spcAft>
              <a:defRPr sz="1019" b="1">
                <a:solidFill>
                  <a:srgbClr val="5AD7C3"/>
                </a:solidFill>
                <a:latin typeface="Arial"/>
              </a:defRPr>
            </a:pPr>
            <a:r>
              <a:t>HOLM4 P</a:t>
            </a:r>
          </a:p>
        </p:txBody>
      </p:sp>
      <p:sp>
        <p:nvSpPr>
          <p:cNvPr id="11" name="Rounded Rectangle 10"/>
          <p:cNvSpPr/>
          <p:nvPr/>
        </p:nvSpPr>
        <p:spPr>
          <a:xfrm>
            <a:off x="502920" y="2185416"/>
            <a:ext cx="6647688" cy="50292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40864"/>
            <a:ext cx="2084831" cy="228600"/>
          </a:xfrm>
          <a:prstGeom prst="rect">
            <a:avLst/>
          </a:prstGeom>
          <a:noFill/>
        </p:spPr>
        <p:txBody>
          <a:bodyPr wrap="square" lIns="0" rIns="0" tIns="0" bIns="0" anchor="t">
            <a:spAutoFit/>
          </a:bodyPr>
          <a:lstStyle/>
          <a:p>
            <a:pPr>
              <a:lnSpc>
                <a:spcPct val="108000"/>
              </a:lnSpc>
              <a:spcBef>
                <a:spcPts val="0"/>
              </a:spcBef>
              <a:spcAft>
                <a:spcPts val="0"/>
              </a:spcAft>
              <a:defRPr sz="1300" b="0">
                <a:solidFill>
                  <a:srgbClr val="F6F8FC"/>
                </a:solidFill>
                <a:latin typeface="Arial"/>
              </a:defRPr>
            </a:pPr>
            <a:r>
              <a:t>Full fixed view</a:t>
            </a:r>
          </a:p>
        </p:txBody>
      </p:sp>
      <p:sp>
        <p:nvSpPr>
          <p:cNvPr id="13" name="TextBox 12"/>
          <p:cNvSpPr txBox="1"/>
          <p:nvPr/>
        </p:nvSpPr>
        <p:spPr>
          <a:xfrm>
            <a:off x="2843784" y="2340864"/>
            <a:ext cx="2743200"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+0.0875  [0.0563, 0.1187]</a:t>
            </a:r>
          </a:p>
        </p:txBody>
      </p:sp>
      <p:sp>
        <p:nvSpPr>
          <p:cNvPr id="14" name="TextBox 13"/>
          <p:cNvSpPr txBox="1"/>
          <p:nvPr/>
        </p:nvSpPr>
        <p:spPr>
          <a:xfrm>
            <a:off x="5751576" y="2340864"/>
            <a:ext cx="1325880" cy="228600"/>
          </a:xfrm>
          <a:prstGeom prst="rect">
            <a:avLst/>
          </a:prstGeom>
          <a:noFill/>
        </p:spPr>
        <p:txBody>
          <a:bodyPr wrap="square" lIns="0" rIns="0" tIns="0" bIns="0" anchor="t">
            <a:spAutoFit/>
          </a:bodyPr>
          <a:lstStyle/>
          <a:p>
            <a:pPr>
              <a:lnSpc>
                <a:spcPct val="108000"/>
              </a:lnSpc>
              <a:spcBef>
                <a:spcPts val="0"/>
              </a:spcBef>
              <a:spcAft>
                <a:spcPts val="0"/>
              </a:spcAft>
              <a:defRPr sz="1300" b="1">
                <a:solidFill>
                  <a:srgbClr val="5AD7C3"/>
                </a:solidFill>
                <a:latin typeface="Arial"/>
              </a:defRPr>
            </a:pPr>
            <a:r>
              <a:t>0.000427</a:t>
            </a:r>
          </a:p>
        </p:txBody>
      </p:sp>
      <p:sp>
        <p:nvSpPr>
          <p:cNvPr id="15" name="Rounded Rectangle 14"/>
          <p:cNvSpPr/>
          <p:nvPr/>
        </p:nvSpPr>
        <p:spPr>
          <a:xfrm>
            <a:off x="502920" y="2752344"/>
            <a:ext cx="6647688" cy="502920"/>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907792"/>
            <a:ext cx="2084831" cy="228600"/>
          </a:xfrm>
          <a:prstGeom prst="rect">
            <a:avLst/>
          </a:prstGeom>
          <a:noFill/>
        </p:spPr>
        <p:txBody>
          <a:bodyPr wrap="square" lIns="0" rIns="0" tIns="0" bIns="0" anchor="t">
            <a:spAutoFit/>
          </a:bodyPr>
          <a:lstStyle/>
          <a:p>
            <a:pPr>
              <a:lnSpc>
                <a:spcPct val="108000"/>
              </a:lnSpc>
              <a:spcBef>
                <a:spcPts val="0"/>
              </a:spcBef>
              <a:spcAft>
                <a:spcPts val="0"/>
              </a:spcAft>
              <a:defRPr sz="1300" b="0">
                <a:solidFill>
                  <a:srgbClr val="F6F8FC"/>
                </a:solidFill>
                <a:latin typeface="Arial"/>
              </a:defRPr>
            </a:pPr>
            <a:r>
              <a:t>Label only</a:t>
            </a:r>
          </a:p>
        </p:txBody>
      </p:sp>
      <p:sp>
        <p:nvSpPr>
          <p:cNvPr id="17" name="TextBox 16"/>
          <p:cNvSpPr txBox="1"/>
          <p:nvPr/>
        </p:nvSpPr>
        <p:spPr>
          <a:xfrm>
            <a:off x="2843784" y="2907792"/>
            <a:ext cx="2743200"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+0.0938  [0.0688, 0.1187]</a:t>
            </a:r>
          </a:p>
        </p:txBody>
      </p:sp>
      <p:sp>
        <p:nvSpPr>
          <p:cNvPr id="18" name="TextBox 17"/>
          <p:cNvSpPr txBox="1"/>
          <p:nvPr/>
        </p:nvSpPr>
        <p:spPr>
          <a:xfrm>
            <a:off x="5751576" y="2907792"/>
            <a:ext cx="1325880" cy="228600"/>
          </a:xfrm>
          <a:prstGeom prst="rect">
            <a:avLst/>
          </a:prstGeom>
          <a:noFill/>
        </p:spPr>
        <p:txBody>
          <a:bodyPr wrap="square" lIns="0" rIns="0" tIns="0" bIns="0" anchor="t">
            <a:spAutoFit/>
          </a:bodyPr>
          <a:lstStyle/>
          <a:p>
            <a:pPr>
              <a:lnSpc>
                <a:spcPct val="108000"/>
              </a:lnSpc>
              <a:spcBef>
                <a:spcPts val="0"/>
              </a:spcBef>
              <a:spcAft>
                <a:spcPts val="0"/>
              </a:spcAft>
              <a:defRPr sz="1300" b="1">
                <a:solidFill>
                  <a:srgbClr val="5AD7C3"/>
                </a:solidFill>
                <a:latin typeface="Arial"/>
              </a:defRPr>
            </a:pPr>
            <a:r>
              <a:t>6.1e-05</a:t>
            </a:r>
          </a:p>
        </p:txBody>
      </p:sp>
      <p:sp>
        <p:nvSpPr>
          <p:cNvPr id="19" name="Rounded Rectangle 18"/>
          <p:cNvSpPr/>
          <p:nvPr/>
        </p:nvSpPr>
        <p:spPr>
          <a:xfrm>
            <a:off x="502920" y="3319272"/>
            <a:ext cx="6647688" cy="502920"/>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474720"/>
            <a:ext cx="2084831" cy="228600"/>
          </a:xfrm>
          <a:prstGeom prst="rect">
            <a:avLst/>
          </a:prstGeom>
          <a:noFill/>
        </p:spPr>
        <p:txBody>
          <a:bodyPr wrap="square" lIns="0" rIns="0" tIns="0" bIns="0" anchor="t">
            <a:spAutoFit/>
          </a:bodyPr>
          <a:lstStyle/>
          <a:p>
            <a:pPr>
              <a:lnSpc>
                <a:spcPct val="108000"/>
              </a:lnSpc>
              <a:spcBef>
                <a:spcPts val="0"/>
              </a:spcBef>
              <a:spcAft>
                <a:spcPts val="0"/>
              </a:spcAft>
              <a:defRPr sz="1300" b="0">
                <a:solidFill>
                  <a:srgbClr val="F6F8FC"/>
                </a:solidFill>
                <a:latin typeface="Arial"/>
              </a:defRPr>
            </a:pPr>
            <a:r>
              <a:t>Receipt only</a:t>
            </a:r>
          </a:p>
        </p:txBody>
      </p:sp>
      <p:sp>
        <p:nvSpPr>
          <p:cNvPr id="21" name="TextBox 20"/>
          <p:cNvSpPr txBox="1"/>
          <p:nvPr/>
        </p:nvSpPr>
        <p:spPr>
          <a:xfrm>
            <a:off x="2843784" y="3474720"/>
            <a:ext cx="2743200"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+0.1031  [0.0750, 0.1313]</a:t>
            </a:r>
          </a:p>
        </p:txBody>
      </p:sp>
      <p:sp>
        <p:nvSpPr>
          <p:cNvPr id="22" name="TextBox 21"/>
          <p:cNvSpPr txBox="1"/>
          <p:nvPr/>
        </p:nvSpPr>
        <p:spPr>
          <a:xfrm>
            <a:off x="5751576" y="3474720"/>
            <a:ext cx="1325880" cy="228600"/>
          </a:xfrm>
          <a:prstGeom prst="rect">
            <a:avLst/>
          </a:prstGeom>
          <a:noFill/>
        </p:spPr>
        <p:txBody>
          <a:bodyPr wrap="square" lIns="0" rIns="0" tIns="0" bIns="0" anchor="t">
            <a:spAutoFit/>
          </a:bodyPr>
          <a:lstStyle/>
          <a:p>
            <a:pPr>
              <a:lnSpc>
                <a:spcPct val="108000"/>
              </a:lnSpc>
              <a:spcBef>
                <a:spcPts val="0"/>
              </a:spcBef>
              <a:spcAft>
                <a:spcPts val="0"/>
              </a:spcAft>
              <a:defRPr sz="1300" b="1">
                <a:solidFill>
                  <a:srgbClr val="5AD7C3"/>
                </a:solidFill>
                <a:latin typeface="Arial"/>
              </a:defRPr>
            </a:pPr>
            <a:r>
              <a:t>9.16e-05</a:t>
            </a:r>
          </a:p>
        </p:txBody>
      </p:sp>
      <p:sp>
        <p:nvSpPr>
          <p:cNvPr id="23" name="Rounded Rectangle 22"/>
          <p:cNvSpPr/>
          <p:nvPr/>
        </p:nvSpPr>
        <p:spPr>
          <a:xfrm>
            <a:off x="502920" y="3886200"/>
            <a:ext cx="6647688" cy="502920"/>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041648"/>
            <a:ext cx="2084831" cy="228600"/>
          </a:xfrm>
          <a:prstGeom prst="rect">
            <a:avLst/>
          </a:prstGeom>
          <a:noFill/>
        </p:spPr>
        <p:txBody>
          <a:bodyPr wrap="square" lIns="0" rIns="0" tIns="0" bIns="0" anchor="t">
            <a:spAutoFit/>
          </a:bodyPr>
          <a:lstStyle/>
          <a:p>
            <a:pPr>
              <a:lnSpc>
                <a:spcPct val="108000"/>
              </a:lnSpc>
              <a:spcBef>
                <a:spcPts val="0"/>
              </a:spcBef>
              <a:spcAft>
                <a:spcPts val="0"/>
              </a:spcAft>
              <a:defRPr sz="1300" b="0">
                <a:solidFill>
                  <a:srgbClr val="F6F8FC"/>
                </a:solidFill>
                <a:latin typeface="Arial"/>
              </a:defRPr>
            </a:pPr>
            <a:r>
              <a:t>Donor codeword</a:t>
            </a:r>
          </a:p>
        </p:txBody>
      </p:sp>
      <p:sp>
        <p:nvSpPr>
          <p:cNvPr id="25" name="TextBox 24"/>
          <p:cNvSpPr txBox="1"/>
          <p:nvPr/>
        </p:nvSpPr>
        <p:spPr>
          <a:xfrm>
            <a:off x="2843784" y="4041648"/>
            <a:ext cx="2743200" cy="228600"/>
          </a:xfrm>
          <a:prstGeom prst="rect">
            <a:avLst/>
          </a:prstGeom>
          <a:noFill/>
        </p:spPr>
        <p:txBody>
          <a:bodyPr wrap="square" lIns="0" rIns="0" tIns="0" bIns="0" anchor="t">
            <a:spAutoFit/>
          </a:bodyPr>
          <a:lstStyle/>
          <a:p>
            <a:pPr>
              <a:lnSpc>
                <a:spcPct val="108000"/>
              </a:lnSpc>
              <a:spcBef>
                <a:spcPts val="0"/>
              </a:spcBef>
              <a:spcAft>
                <a:spcPts val="0"/>
              </a:spcAft>
              <a:defRPr sz="1240" b="0">
                <a:solidFill>
                  <a:srgbClr val="F6F8FC"/>
                </a:solidFill>
                <a:latin typeface="Arial"/>
              </a:defRPr>
            </a:pPr>
            <a:r>
              <a:t>+0.0688  [0.0312, 0.1094]</a:t>
            </a:r>
          </a:p>
        </p:txBody>
      </p:sp>
      <p:sp>
        <p:nvSpPr>
          <p:cNvPr id="26" name="TextBox 25"/>
          <p:cNvSpPr txBox="1"/>
          <p:nvPr/>
        </p:nvSpPr>
        <p:spPr>
          <a:xfrm>
            <a:off x="5751576" y="4041648"/>
            <a:ext cx="1325880" cy="228600"/>
          </a:xfrm>
          <a:prstGeom prst="rect">
            <a:avLst/>
          </a:prstGeom>
          <a:noFill/>
        </p:spPr>
        <p:txBody>
          <a:bodyPr wrap="square" lIns="0" rIns="0" tIns="0" bIns="0" anchor="t">
            <a:spAutoFit/>
          </a:bodyPr>
          <a:lstStyle/>
          <a:p>
            <a:pPr>
              <a:lnSpc>
                <a:spcPct val="108000"/>
              </a:lnSpc>
              <a:spcBef>
                <a:spcPts val="0"/>
              </a:spcBef>
              <a:spcAft>
                <a:spcPts val="0"/>
              </a:spcAft>
              <a:defRPr sz="1300" b="1">
                <a:solidFill>
                  <a:srgbClr val="5AD7C3"/>
                </a:solidFill>
                <a:latin typeface="Arial"/>
              </a:defRPr>
            </a:pPr>
            <a:r>
              <a:t>0.00354</a:t>
            </a:r>
          </a:p>
        </p:txBody>
      </p:sp>
      <p:sp>
        <p:nvSpPr>
          <p:cNvPr id="27" name="Rounded Rectangle 26"/>
          <p:cNvSpPr/>
          <p:nvPr/>
        </p:nvSpPr>
        <p:spPr>
          <a:xfrm>
            <a:off x="502920" y="4636008"/>
            <a:ext cx="6647688" cy="1508760"/>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 y="4800600"/>
            <a:ext cx="6300216" cy="201168"/>
          </a:xfrm>
          <a:prstGeom prst="rect">
            <a:avLst/>
          </a:prstGeom>
          <a:noFill/>
        </p:spPr>
        <p:txBody>
          <a:bodyPr wrap="square" lIns="0" rIns="0" tIns="0" bIns="0" anchor="t">
            <a:spAutoFit/>
          </a:bodyPr>
          <a:lstStyle/>
          <a:p>
            <a:pPr>
              <a:lnSpc>
                <a:spcPct val="108000"/>
              </a:lnSpc>
              <a:spcBef>
                <a:spcPts val="0"/>
              </a:spcBef>
              <a:spcAft>
                <a:spcPts val="0"/>
              </a:spcAft>
              <a:defRPr sz="1110" b="1">
                <a:solidFill>
                  <a:srgbClr val="5AD7C3"/>
                </a:solidFill>
                <a:latin typeface="Arial"/>
              </a:defRPr>
            </a:pPr>
            <a:r>
              <a:t>ERROR AND STABILITY CHECKS</a:t>
            </a:r>
          </a:p>
        </p:txBody>
      </p:sp>
      <p:sp>
        <p:nvSpPr>
          <p:cNvPr id="29" name="TextBox 28"/>
          <p:cNvSpPr txBox="1"/>
          <p:nvPr/>
        </p:nvSpPr>
        <p:spPr>
          <a:xfrm>
            <a:off x="676656" y="5193792"/>
            <a:ext cx="6300216" cy="731520"/>
          </a:xfrm>
          <a:prstGeom prst="rect">
            <a:avLst/>
          </a:prstGeom>
          <a:noFill/>
        </p:spPr>
        <p:txBody>
          <a:bodyPr wrap="square" lIns="0" rIns="0" tIns="0" bIns="0" anchor="t">
            <a:spAutoFit/>
          </a:bodyPr>
          <a:lstStyle/>
          <a:p>
            <a:pPr>
              <a:lnSpc>
                <a:spcPct val="108000"/>
              </a:lnSpc>
              <a:spcBef>
                <a:spcPts val="0"/>
              </a:spcBef>
              <a:spcAft>
                <a:spcPts val="0"/>
              </a:spcAft>
              <a:defRPr sz="1210" b="0">
                <a:solidFill>
                  <a:srgbClr val="F6F8FC"/>
                </a:solidFill>
                <a:latin typeface="Arial"/>
              </a:defRPr>
            </a:pPr>
            <a:r>
              <a:t>Explicit bit: 160/160 correct  ·  public copy: 1280/1,280</a:t>
            </a:r>
          </a:p>
          <a:p>
            <a:pPr>
              <a:lnSpc>
                <a:spcPct val="108000"/>
              </a:lnSpc>
              <a:spcBef>
                <a:spcPts val="0"/>
              </a:spcBef>
              <a:spcAft>
                <a:spcPts val="0"/>
              </a:spcAft>
              <a:defRPr sz="1210" b="0">
                <a:solidFill>
                  <a:srgbClr val="F6F8FC"/>
                </a:solidFill>
                <a:latin typeface="Arial"/>
              </a:defRPr>
            </a:pPr>
            <a:r>
              <a:t>Explicit correct bets: 102/160; no-signal bets: 56/640</a:t>
            </a:r>
          </a:p>
          <a:p>
            <a:pPr>
              <a:lnSpc>
                <a:spcPct val="108000"/>
              </a:lnSpc>
              <a:spcBef>
                <a:spcPts val="0"/>
              </a:spcBef>
              <a:spcAft>
                <a:spcPts val="0"/>
              </a:spcAft>
              <a:defRPr sz="1210" b="0">
                <a:solidFill>
                  <a:srgbClr val="F6F8FC"/>
                </a:solidFill>
                <a:latin typeface="Arial"/>
              </a:defRPr>
            </a:pPr>
            <a:r>
              <a:t>Unsupported bit claims: 65/640; joint repeat disagreements: 14/80</a:t>
            </a:r>
          </a:p>
        </p:txBody>
      </p:sp>
      <p:sp>
        <p:nvSpPr>
          <p:cNvPr id="30" name="TextBox 29"/>
          <p:cNvSpPr txBox="1"/>
          <p:nvPr/>
        </p:nvSpPr>
        <p:spPr>
          <a:xfrm>
            <a:off x="7626096" y="1856231"/>
            <a:ext cx="4041648" cy="228600"/>
          </a:xfrm>
          <a:prstGeom prst="rect">
            <a:avLst/>
          </a:prstGeom>
          <a:noFill/>
        </p:spPr>
        <p:txBody>
          <a:bodyPr wrap="square" lIns="0" rIns="0" tIns="0" bIns="0" anchor="t">
            <a:spAutoFit/>
          </a:bodyPr>
          <a:lstStyle/>
          <a:p>
            <a:pPr>
              <a:lnSpc>
                <a:spcPct val="108000"/>
              </a:lnSpc>
              <a:spcBef>
                <a:spcPts val="0"/>
              </a:spcBef>
              <a:spcAft>
                <a:spcPts val="0"/>
              </a:spcAft>
              <a:defRPr sz="1380" b="1">
                <a:solidFill>
                  <a:srgbClr val="F6F8FC"/>
                </a:solidFill>
                <a:latin typeface="Arial"/>
              </a:defRPr>
            </a:pPr>
            <a:r>
              <a:t>Neutral arms: signed decoding</a:t>
            </a:r>
          </a:p>
        </p:txBody>
      </p:sp>
      <p:pic>
        <p:nvPicPr>
          <p:cNvPr id="31" name="Picture 30" descr="validation_signed_decoding.png"/>
          <p:cNvPicPr>
            <a:picLocks noChangeAspect="1"/>
          </p:cNvPicPr>
          <p:nvPr/>
        </p:nvPicPr>
        <p:blipFill>
          <a:blip r:embed="rId2"/>
          <a:stretch>
            <a:fillRect/>
          </a:stretch>
        </p:blipFill>
        <p:spPr>
          <a:xfrm>
            <a:off x="7571231" y="2148840"/>
            <a:ext cx="4114800" cy="2386584"/>
          </a:xfrm>
          <a:prstGeom prst="rect">
            <a:avLst/>
          </a:prstGeom>
        </p:spPr>
      </p:pic>
      <p:sp>
        <p:nvSpPr>
          <p:cNvPr id="32" name="TextBox 31"/>
          <p:cNvSpPr txBox="1"/>
          <p:nvPr/>
        </p:nvSpPr>
        <p:spPr>
          <a:xfrm>
            <a:off x="7626096" y="4672584"/>
            <a:ext cx="4041648" cy="228600"/>
          </a:xfrm>
          <a:prstGeom prst="rect">
            <a:avLst/>
          </a:prstGeom>
          <a:noFill/>
        </p:spPr>
        <p:txBody>
          <a:bodyPr wrap="square" lIns="0" rIns="0" tIns="0" bIns="0" anchor="t">
            <a:spAutoFit/>
          </a:bodyPr>
          <a:lstStyle/>
          <a:p>
            <a:pPr>
              <a:lnSpc>
                <a:spcPct val="108000"/>
              </a:lnSpc>
              <a:spcBef>
                <a:spcPts val="0"/>
              </a:spcBef>
              <a:spcAft>
                <a:spcPts val="0"/>
              </a:spcAft>
              <a:defRPr sz="1300" b="1">
                <a:solidFill>
                  <a:srgbClr val="F6F8FC"/>
                </a:solidFill>
                <a:latin typeface="Arial"/>
              </a:defRPr>
            </a:pPr>
            <a:r>
              <a:t>Accepted bets: view × announcement</a:t>
            </a:r>
          </a:p>
        </p:txBody>
      </p:sp>
      <p:pic>
        <p:nvPicPr>
          <p:cNvPr id="33" name="Picture 32" descr="validation_banner_bets.png"/>
          <p:cNvPicPr>
            <a:picLocks noChangeAspect="1"/>
          </p:cNvPicPr>
          <p:nvPr/>
        </p:nvPicPr>
        <p:blipFill>
          <a:blip r:embed="rId3"/>
          <a:stretch>
            <a:fillRect/>
          </a:stretch>
        </p:blipFill>
        <p:spPr>
          <a:xfrm>
            <a:off x="7571231" y="4965192"/>
            <a:ext cx="4114800" cy="1234440"/>
          </a:xfrm>
          <a:prstGeom prst="rect">
            <a:avLst/>
          </a:prstGeom>
        </p:spPr>
      </p:pic>
      <p:sp>
        <p:nvSpPr>
          <p:cNvPr id="34" name="TextBox 33"/>
          <p:cNvSpPr txBox="1"/>
          <p:nvPr/>
        </p:nvSpPr>
        <p:spPr>
          <a:xfrm>
            <a:off x="502920" y="6391656"/>
            <a:ext cx="11183112" cy="137160"/>
          </a:xfrm>
          <a:prstGeom prst="rect">
            <a:avLst/>
          </a:prstGeom>
          <a:noFill/>
        </p:spPr>
        <p:txBody>
          <a:bodyPr wrap="square" lIns="0" rIns="0" tIns="0" bIns="0" anchor="t">
            <a:spAutoFit/>
          </a:bodyPr>
          <a:lstStyle/>
          <a:p>
            <a:pPr>
              <a:lnSpc>
                <a:spcPct val="108000"/>
              </a:lnSpc>
              <a:spcBef>
                <a:spcPts val="0"/>
              </a:spcBef>
              <a:spcAft>
                <a:spcPts val="0"/>
              </a:spcAft>
              <a:defRPr sz="880" b="0">
                <a:solidFill>
                  <a:srgbClr val="899AB4"/>
                </a:solidFill>
                <a:latin typeface="Arial"/>
              </a:defRPr>
            </a:pPr>
            <a:r>
              <a:t>S=.5 perfect; S=0 constant/abstain. Bit errors are not collusion-detector errors. Original host-mask ΔS=.22656 is a separate cohort.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425"/>
        </a:solidFill>
        <a:effectLst/>
      </p:bgPr>
    </p:bg>
    <p:spTree>
      <p:nvGrpSpPr>
        <p:cNvPr id="1" name=""/>
        <p:cNvGrpSpPr/>
        <p:nvPr/>
      </p:nvGrpSpPr>
      <p:grpSpPr/>
      <p:sp>
        <p:nvSpPr>
          <p:cNvPr id="2" name="Rectangle 1"/>
          <p:cNvSpPr/>
          <p:nvPr/>
        </p:nvSpPr>
        <p:spPr>
          <a:xfrm>
            <a:off x="502920" y="329184"/>
            <a:ext cx="320040" cy="45720"/>
          </a:xfrm>
          <a:prstGeom prst="rect">
            <a:avLst/>
          </a:prstGeom>
          <a:solidFill>
            <a:srgbClr val="5AD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46888"/>
            <a:ext cx="10058400" cy="228600"/>
          </a:xfrm>
          <a:prstGeom prst="rect">
            <a:avLst/>
          </a:prstGeom>
          <a:noFill/>
        </p:spPr>
        <p:txBody>
          <a:bodyPr wrap="square" lIns="0" rIns="0" tIns="0" bIns="0" anchor="t">
            <a:spAutoFit/>
          </a:bodyPr>
          <a:lstStyle/>
          <a:p>
            <a:pPr>
              <a:lnSpc>
                <a:spcPct val="108000"/>
              </a:lnSpc>
              <a:spcBef>
                <a:spcPts val="0"/>
              </a:spcBef>
              <a:spcAft>
                <a:spcPts val="0"/>
              </a:spcAft>
              <a:defRPr sz="1050" b="1">
                <a:solidFill>
                  <a:srgbClr val="5AD7C3"/>
                </a:solidFill>
                <a:latin typeface="Arial"/>
              </a:defRPr>
            </a:pPr>
            <a:r>
              <a:t>05  /  FINDING</a:t>
            </a:r>
          </a:p>
        </p:txBody>
      </p:sp>
      <p:sp>
        <p:nvSpPr>
          <p:cNvPr id="4" name="TextBox 3"/>
          <p:cNvSpPr txBox="1"/>
          <p:nvPr/>
        </p:nvSpPr>
        <p:spPr>
          <a:xfrm>
            <a:off x="502920" y="649224"/>
            <a:ext cx="11183112" cy="594360"/>
          </a:xfrm>
          <a:prstGeom prst="rect">
            <a:avLst/>
          </a:prstGeom>
          <a:noFill/>
        </p:spPr>
        <p:txBody>
          <a:bodyPr wrap="square" lIns="0" rIns="0" tIns="0" bIns="0" anchor="t">
            <a:spAutoFit/>
          </a:bodyPr>
          <a:lstStyle/>
          <a:p>
            <a:pPr>
              <a:lnSpc>
                <a:spcPct val="108000"/>
              </a:lnSpc>
              <a:spcBef>
                <a:spcPts val="0"/>
              </a:spcBef>
              <a:spcAft>
                <a:spcPts val="0"/>
              </a:spcAft>
              <a:defRPr sz="2950" b="1">
                <a:solidFill>
                  <a:srgbClr val="F6F8FC"/>
                </a:solidFill>
                <a:latin typeface="Arial"/>
              </a:defRPr>
            </a:pPr>
            <a:r>
              <a:t>Privacy announcements changed action on the same data</a:t>
            </a:r>
          </a:p>
        </p:txBody>
      </p:sp>
      <p:sp>
        <p:nvSpPr>
          <p:cNvPr id="5" name="TextBox 4"/>
          <p:cNvSpPr txBox="1"/>
          <p:nvPr/>
        </p:nvSpPr>
        <p:spPr>
          <a:xfrm>
            <a:off x="502920" y="1271016"/>
            <a:ext cx="11155680" cy="420624"/>
          </a:xfrm>
          <a:prstGeom prst="rect">
            <a:avLst/>
          </a:prstGeom>
          <a:noFill/>
        </p:spPr>
        <p:txBody>
          <a:bodyPr wrap="square" lIns="0" rIns="0" tIns="0" bIns="0" anchor="t">
            <a:spAutoFit/>
          </a:bodyPr>
          <a:lstStyle/>
          <a:p>
            <a:pPr>
              <a:lnSpc>
                <a:spcPct val="108000"/>
              </a:lnSpc>
              <a:spcBef>
                <a:spcPts val="0"/>
              </a:spcBef>
              <a:spcAft>
                <a:spcPts val="0"/>
              </a:spcAft>
              <a:defRPr sz="1430" b="0">
                <a:solidFill>
                  <a:srgbClr val="B6C4D9"/>
                </a:solidFill>
                <a:latin typeface="Arial"/>
              </a:defRPr>
            </a:pPr>
            <a:r>
              <a:t>Usable information and observed betting came apart when the actual view was crossed with the policy announcement.</a:t>
            </a:r>
          </a:p>
        </p:txBody>
      </p:sp>
      <p:sp>
        <p:nvSpPr>
          <p:cNvPr id="6" name="TextBox 5"/>
          <p:cNvSpPr txBox="1"/>
          <p:nvPr/>
        </p:nvSpPr>
        <p:spPr>
          <a:xfrm>
            <a:off x="502920" y="6583680"/>
            <a:ext cx="9875520" cy="137160"/>
          </a:xfrm>
          <a:prstGeom prst="rect">
            <a:avLst/>
          </a:prstGeom>
          <a:noFill/>
        </p:spPr>
        <p:txBody>
          <a:bodyPr wrap="square" lIns="0" rIns="0" tIns="0" bIns="0" anchor="t">
            <a:spAutoFit/>
          </a:bodyPr>
          <a:lstStyle/>
          <a:p>
            <a:pPr>
              <a:lnSpc>
                <a:spcPct val="108000"/>
              </a:lnSpc>
              <a:spcBef>
                <a:spcPts val="0"/>
              </a:spcBef>
              <a:spcAft>
                <a:spcPts val="0"/>
              </a:spcAft>
              <a:defRPr sz="850" b="0">
                <a:solidFill>
                  <a:srgbClr val="899AB4"/>
                </a:solidFill>
                <a:latin typeface="Arial"/>
              </a:defRPr>
            </a:pPr>
            <a:r>
              <a:t>15 OCT 2026  |  PRE-SPRINT EVIDENCE  |  AI-ASSISTED BRIEFING</a:t>
            </a:r>
          </a:p>
        </p:txBody>
      </p:sp>
      <p:sp>
        <p:nvSpPr>
          <p:cNvPr id="7" name="TextBox 6"/>
          <p:cNvSpPr txBox="1"/>
          <p:nvPr/>
        </p:nvSpPr>
        <p:spPr>
          <a:xfrm>
            <a:off x="11064240" y="6556248"/>
            <a:ext cx="594360" cy="201168"/>
          </a:xfrm>
          <a:prstGeom prst="rect">
            <a:avLst/>
          </a:prstGeom>
          <a:noFill/>
        </p:spPr>
        <p:txBody>
          <a:bodyPr wrap="square" lIns="0" rIns="0" tIns="0" bIns="0" anchor="t">
            <a:spAutoFit/>
          </a:bodyPr>
          <a:lstStyle/>
          <a:p>
            <a:pPr algn="r">
              <a:lnSpc>
                <a:spcPct val="108000"/>
              </a:lnSpc>
              <a:spcBef>
                <a:spcPts val="0"/>
              </a:spcBef>
              <a:spcAft>
                <a:spcPts val="0"/>
              </a:spcAft>
              <a:defRPr sz="1019" b="0">
                <a:solidFill>
                  <a:srgbClr val="B6C4D9"/>
                </a:solidFill>
                <a:latin typeface="Arial"/>
              </a:defRPr>
            </a:pPr>
            <a:r>
              <a:t>5 / 5</a:t>
            </a:r>
          </a:p>
        </p:txBody>
      </p:sp>
      <p:sp>
        <p:nvSpPr>
          <p:cNvPr id="8" name="Rounded Rectangle 7"/>
          <p:cNvSpPr/>
          <p:nvPr/>
        </p:nvSpPr>
        <p:spPr>
          <a:xfrm>
            <a:off x="502920" y="1892807"/>
            <a:ext cx="3621024" cy="2734056"/>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84831"/>
            <a:ext cx="3218688" cy="228600"/>
          </a:xfrm>
          <a:prstGeom prst="rect">
            <a:avLst/>
          </a:prstGeom>
          <a:noFill/>
        </p:spPr>
        <p:txBody>
          <a:bodyPr wrap="square" lIns="0" rIns="0" tIns="0" bIns="0" anchor="t">
            <a:spAutoFit/>
          </a:bodyPr>
          <a:lstStyle/>
          <a:p>
            <a:pPr>
              <a:lnSpc>
                <a:spcPct val="108000"/>
              </a:lnSpc>
              <a:spcBef>
                <a:spcPts val="0"/>
              </a:spcBef>
              <a:spcAft>
                <a:spcPts val="0"/>
              </a:spcAft>
              <a:defRPr sz="1140" b="1">
                <a:solidFill>
                  <a:srgbClr val="5AD7C3"/>
                </a:solidFill>
                <a:latin typeface="Arial"/>
              </a:defRPr>
            </a:pPr>
            <a:r>
              <a:t>01  USABLE INFORMATION</a:t>
            </a:r>
          </a:p>
        </p:txBody>
      </p:sp>
      <p:sp>
        <p:nvSpPr>
          <p:cNvPr id="10" name="TextBox 9"/>
          <p:cNvSpPr txBox="1"/>
          <p:nvPr/>
        </p:nvSpPr>
        <p:spPr>
          <a:xfrm>
            <a:off x="704088" y="2615184"/>
            <a:ext cx="3218688" cy="676656"/>
          </a:xfrm>
          <a:prstGeom prst="rect">
            <a:avLst/>
          </a:prstGeom>
          <a:noFill/>
        </p:spPr>
        <p:txBody>
          <a:bodyPr wrap="square" lIns="0" rIns="0" tIns="0" bIns="0" anchor="t">
            <a:spAutoFit/>
          </a:bodyPr>
          <a:lstStyle/>
          <a:p>
            <a:pPr>
              <a:lnSpc>
                <a:spcPct val="108000"/>
              </a:lnSpc>
              <a:spcBef>
                <a:spcPts val="0"/>
              </a:spcBef>
              <a:spcAft>
                <a:spcPts val="0"/>
              </a:spcAft>
              <a:defRPr sz="1910" b="1">
                <a:solidFill>
                  <a:srgbClr val="F6F8FC"/>
                </a:solidFill>
                <a:latin typeface="Arial"/>
              </a:defRPr>
            </a:pPr>
            <a:r>
              <a:t>Joint target information mattered.</a:t>
            </a:r>
          </a:p>
        </p:txBody>
      </p:sp>
      <p:sp>
        <p:nvSpPr>
          <p:cNvPr id="11" name="TextBox 10"/>
          <p:cNvSpPr txBox="1"/>
          <p:nvPr/>
        </p:nvSpPr>
        <p:spPr>
          <a:xfrm>
            <a:off x="704088" y="3511296"/>
            <a:ext cx="3218688" cy="923544"/>
          </a:xfrm>
          <a:prstGeom prst="rect">
            <a:avLst/>
          </a:prstGeom>
          <a:noFill/>
        </p:spPr>
        <p:txBody>
          <a:bodyPr wrap="square" lIns="0" rIns="0" tIns="0" bIns="0" anchor="t">
            <a:spAutoFit/>
          </a:bodyPr>
          <a:lstStyle/>
          <a:p>
            <a:pPr>
              <a:lnSpc>
                <a:spcPct val="108000"/>
              </a:lnSpc>
              <a:spcBef>
                <a:spcPts val="0"/>
              </a:spcBef>
              <a:spcAft>
                <a:spcPts val="0"/>
              </a:spcAft>
              <a:defRPr sz="1300" b="0">
                <a:solidFill>
                  <a:srgbClr val="F6F8FC"/>
                </a:solidFill>
                <a:latin typeface="Arial"/>
              </a:defRPr>
            </a:pPr>
            <a:r>
              <a:t>All four controlled ΔS effects: +0.0688 to +0.1031.</a:t>
            </a:r>
          </a:p>
          <a:p>
            <a:pPr>
              <a:lnSpc>
                <a:spcPct val="108000"/>
              </a:lnSpc>
              <a:spcBef>
                <a:spcPts val="0"/>
              </a:spcBef>
              <a:spcAft>
                <a:spcPts val="0"/>
              </a:spcAft>
              <a:defRPr sz="1300" b="0">
                <a:solidFill>
                  <a:srgbClr val="F6F8FC"/>
                </a:solidFill>
                <a:latin typeface="Arial"/>
              </a:defRPr>
            </a:pPr>
            <a:r>
              <a:t>Removing either field or substituting a donor codeword reduced target decoding.</a:t>
            </a:r>
          </a:p>
        </p:txBody>
      </p:sp>
      <p:sp>
        <p:nvSpPr>
          <p:cNvPr id="12" name="Rounded Rectangle 11"/>
          <p:cNvSpPr/>
          <p:nvPr/>
        </p:nvSpPr>
        <p:spPr>
          <a:xfrm>
            <a:off x="4279392" y="1892807"/>
            <a:ext cx="3621024" cy="2734056"/>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2084831"/>
            <a:ext cx="3218688" cy="228600"/>
          </a:xfrm>
          <a:prstGeom prst="rect">
            <a:avLst/>
          </a:prstGeom>
          <a:noFill/>
        </p:spPr>
        <p:txBody>
          <a:bodyPr wrap="square" lIns="0" rIns="0" tIns="0" bIns="0" anchor="t">
            <a:spAutoFit/>
          </a:bodyPr>
          <a:lstStyle/>
          <a:p>
            <a:pPr>
              <a:lnSpc>
                <a:spcPct val="108000"/>
              </a:lnSpc>
              <a:spcBef>
                <a:spcPts val="0"/>
              </a:spcBef>
              <a:spcAft>
                <a:spcPts val="0"/>
              </a:spcAft>
              <a:defRPr sz="1140" b="1">
                <a:solidFill>
                  <a:srgbClr val="5AD7C3"/>
                </a:solidFill>
                <a:latin typeface="Arial"/>
              </a:defRPr>
            </a:pPr>
            <a:r>
              <a:t>02  INFORMATION PRESENT</a:t>
            </a:r>
          </a:p>
        </p:txBody>
      </p:sp>
      <p:sp>
        <p:nvSpPr>
          <p:cNvPr id="14" name="TextBox 13"/>
          <p:cNvSpPr txBox="1"/>
          <p:nvPr/>
        </p:nvSpPr>
        <p:spPr>
          <a:xfrm>
            <a:off x="4480559" y="2615184"/>
            <a:ext cx="3218688" cy="676656"/>
          </a:xfrm>
          <a:prstGeom prst="rect">
            <a:avLst/>
          </a:prstGeom>
          <a:noFill/>
        </p:spPr>
        <p:txBody>
          <a:bodyPr wrap="square" lIns="0" rIns="0" tIns="0" bIns="0" anchor="t">
            <a:spAutoFit/>
          </a:bodyPr>
          <a:lstStyle/>
          <a:p>
            <a:pPr>
              <a:lnSpc>
                <a:spcPct val="108000"/>
              </a:lnSpc>
              <a:spcBef>
                <a:spcPts val="0"/>
              </a:spcBef>
              <a:spcAft>
                <a:spcPts val="0"/>
              </a:spcAft>
              <a:defRPr sz="1910" b="1">
                <a:solidFill>
                  <a:srgbClr val="F6F8FC"/>
                </a:solidFill>
                <a:latin typeface="Arial"/>
              </a:defRPr>
            </a:pPr>
            <a:r>
              <a:t>An open channel can look safe.</a:t>
            </a:r>
          </a:p>
        </p:txBody>
      </p:sp>
      <p:sp>
        <p:nvSpPr>
          <p:cNvPr id="15" name="TextBox 14"/>
          <p:cNvSpPr txBox="1"/>
          <p:nvPr/>
        </p:nvSpPr>
        <p:spPr>
          <a:xfrm>
            <a:off x="4480559" y="3511296"/>
            <a:ext cx="3218688" cy="923544"/>
          </a:xfrm>
          <a:prstGeom prst="rect">
            <a:avLst/>
          </a:prstGeom>
          <a:noFill/>
        </p:spPr>
        <p:txBody>
          <a:bodyPr wrap="square" lIns="0" rIns="0" tIns="0" bIns="0" anchor="t">
            <a:spAutoFit/>
          </a:bodyPr>
          <a:lstStyle/>
          <a:p>
            <a:pPr>
              <a:lnSpc>
                <a:spcPct val="108000"/>
              </a:lnSpc>
              <a:spcBef>
                <a:spcPts val="0"/>
              </a:spcBef>
              <a:spcAft>
                <a:spcPts val="0"/>
              </a:spcAft>
              <a:defRPr sz="1300" b="0">
                <a:solidFill>
                  <a:srgbClr val="F6F8FC"/>
                </a:solidFill>
                <a:latin typeface="Arial"/>
              </a:defRPr>
            </a:pPr>
            <a:r>
              <a:t>Same informative joint view: 49/80 bets with the marginal banner; 0/80 with the full banner.</a:t>
            </a:r>
          </a:p>
          <a:p>
            <a:pPr>
              <a:lnSpc>
                <a:spcPct val="108000"/>
              </a:lnSpc>
              <a:spcBef>
                <a:spcPts val="0"/>
              </a:spcBef>
              <a:spcAft>
                <a:spcPts val="0"/>
              </a:spcAft>
              <a:defRPr sz="1300" b="0">
                <a:solidFill>
                  <a:srgbClr val="F6F8FC"/>
                </a:solidFill>
                <a:latin typeface="Arial"/>
              </a:defRPr>
            </a:pPr>
            <a:r>
              <a:t>The metadata still carried the target bit.</a:t>
            </a:r>
          </a:p>
        </p:txBody>
      </p:sp>
      <p:sp>
        <p:nvSpPr>
          <p:cNvPr id="16" name="Rounded Rectangle 15"/>
          <p:cNvSpPr/>
          <p:nvPr/>
        </p:nvSpPr>
        <p:spPr>
          <a:xfrm>
            <a:off x="8055864" y="1892807"/>
            <a:ext cx="3621024" cy="2734056"/>
          </a:xfrm>
          <a:prstGeom prst="roundRect">
            <a:avLst>
              <a:gd name="adj" fmla="val 10000"/>
            </a:avLst>
          </a:prstGeom>
          <a:solidFill>
            <a:srgbClr val="14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2084831"/>
            <a:ext cx="3218688" cy="228600"/>
          </a:xfrm>
          <a:prstGeom prst="rect">
            <a:avLst/>
          </a:prstGeom>
          <a:noFill/>
        </p:spPr>
        <p:txBody>
          <a:bodyPr wrap="square" lIns="0" rIns="0" tIns="0" bIns="0" anchor="t">
            <a:spAutoFit/>
          </a:bodyPr>
          <a:lstStyle/>
          <a:p>
            <a:pPr>
              <a:lnSpc>
                <a:spcPct val="108000"/>
              </a:lnSpc>
              <a:spcBef>
                <a:spcPts val="0"/>
              </a:spcBef>
              <a:spcAft>
                <a:spcPts val="0"/>
              </a:spcAft>
              <a:defRPr sz="1140" b="1">
                <a:solidFill>
                  <a:srgbClr val="5AD7C3"/>
                </a:solidFill>
                <a:latin typeface="Arial"/>
              </a:defRPr>
            </a:pPr>
            <a:r>
              <a:t>03  INFORMATION ABSENT</a:t>
            </a:r>
          </a:p>
        </p:txBody>
      </p:sp>
      <p:sp>
        <p:nvSpPr>
          <p:cNvPr id="18" name="TextBox 17"/>
          <p:cNvSpPr txBox="1"/>
          <p:nvPr/>
        </p:nvSpPr>
        <p:spPr>
          <a:xfrm>
            <a:off x="8257032" y="2615184"/>
            <a:ext cx="3218688" cy="676656"/>
          </a:xfrm>
          <a:prstGeom prst="rect">
            <a:avLst/>
          </a:prstGeom>
          <a:noFill/>
        </p:spPr>
        <p:txBody>
          <a:bodyPr wrap="square" lIns="0" rIns="0" tIns="0" bIns="0" anchor="t">
            <a:spAutoFit/>
          </a:bodyPr>
          <a:lstStyle/>
          <a:p>
            <a:pPr>
              <a:lnSpc>
                <a:spcPct val="108000"/>
              </a:lnSpc>
              <a:spcBef>
                <a:spcPts val="0"/>
              </a:spcBef>
              <a:spcAft>
                <a:spcPts val="0"/>
              </a:spcAft>
              <a:defRPr sz="1910" b="1">
                <a:solidFill>
                  <a:srgbClr val="F6F8FC"/>
                </a:solidFill>
                <a:latin typeface="Arial"/>
              </a:defRPr>
            </a:pPr>
            <a:r>
              <a:t>Bets persisted without target information.</a:t>
            </a:r>
          </a:p>
        </p:txBody>
      </p:sp>
      <p:sp>
        <p:nvSpPr>
          <p:cNvPr id="19" name="TextBox 18"/>
          <p:cNvSpPr txBox="1"/>
          <p:nvPr/>
        </p:nvSpPr>
        <p:spPr>
          <a:xfrm>
            <a:off x="8257032" y="3511296"/>
            <a:ext cx="3218688" cy="923544"/>
          </a:xfrm>
          <a:prstGeom prst="rect">
            <a:avLst/>
          </a:prstGeom>
          <a:noFill/>
        </p:spPr>
        <p:txBody>
          <a:bodyPr wrap="square" lIns="0" rIns="0" tIns="0" bIns="0" anchor="t">
            <a:spAutoFit/>
          </a:bodyPr>
          <a:lstStyle/>
          <a:p>
            <a:pPr>
              <a:lnSpc>
                <a:spcPct val="108000"/>
              </a:lnSpc>
              <a:spcBef>
                <a:spcPts val="0"/>
              </a:spcBef>
              <a:spcAft>
                <a:spcPts val="0"/>
              </a:spcAft>
              <a:defRPr sz="1300" b="0">
                <a:solidFill>
                  <a:srgbClr val="F6F8FC"/>
                </a:solidFill>
                <a:latin typeface="Arial"/>
              </a:defRPr>
            </a:pPr>
            <a:r>
              <a:t>Same target-independent fixed view: 23/80 bets with the marginal banner; 0/80 with the full banner.</a:t>
            </a:r>
          </a:p>
          <a:p>
            <a:pPr>
              <a:lnSpc>
                <a:spcPct val="108000"/>
              </a:lnSpc>
              <a:spcBef>
                <a:spcPts val="0"/>
              </a:spcBef>
              <a:spcAft>
                <a:spcPts val="0"/>
              </a:spcAft>
              <a:defRPr sz="1300" b="0">
                <a:solidFill>
                  <a:srgbClr val="F6F8FC"/>
                </a:solidFill>
                <a:latin typeface="Arial"/>
              </a:defRPr>
            </a:pPr>
            <a:r>
              <a:t>The uninformed betting netted -32.</a:t>
            </a:r>
          </a:p>
        </p:txBody>
      </p:sp>
      <p:sp>
        <p:nvSpPr>
          <p:cNvPr id="20" name="TextBox 19"/>
          <p:cNvSpPr txBox="1"/>
          <p:nvPr/>
        </p:nvSpPr>
        <p:spPr>
          <a:xfrm>
            <a:off x="502920" y="4901184"/>
            <a:ext cx="11183112" cy="374904"/>
          </a:xfrm>
          <a:prstGeom prst="rect">
            <a:avLst/>
          </a:prstGeom>
          <a:noFill/>
        </p:spPr>
        <p:txBody>
          <a:bodyPr wrap="square" lIns="0" rIns="0" tIns="0" bIns="0" anchor="t">
            <a:spAutoFit/>
          </a:bodyPr>
          <a:lstStyle/>
          <a:p>
            <a:pPr>
              <a:lnSpc>
                <a:spcPct val="108000"/>
              </a:lnSpc>
              <a:spcBef>
                <a:spcPts val="0"/>
              </a:spcBef>
              <a:spcAft>
                <a:spcPts val="0"/>
              </a:spcAft>
              <a:defRPr sz="1210" b="0">
                <a:solidFill>
                  <a:srgbClr val="F0C778"/>
                </a:solidFill>
                <a:latin typeface="Arial"/>
              </a:defRPr>
            </a:pPr>
            <a:r>
              <a:t>Announcement effect on owner harm: +3.15/call [95% 2.45, 3.89], Holm6 p=1.14e-05. Exact prior policy bundles were crossed.</a:t>
            </a:r>
          </a:p>
        </p:txBody>
      </p:sp>
      <p:sp>
        <p:nvSpPr>
          <p:cNvPr id="21" name="Rounded Rectangle 20"/>
          <p:cNvSpPr/>
          <p:nvPr/>
        </p:nvSpPr>
        <p:spPr>
          <a:xfrm>
            <a:off x="502920" y="5449824"/>
            <a:ext cx="11183112" cy="603504"/>
          </a:xfrm>
          <a:prstGeom prst="roundRect">
            <a:avLst>
              <a:gd name="adj" fmla="val 10000"/>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641848"/>
            <a:ext cx="2532888" cy="201168"/>
          </a:xfrm>
          <a:prstGeom prst="rect">
            <a:avLst/>
          </a:prstGeom>
          <a:noFill/>
        </p:spPr>
        <p:txBody>
          <a:bodyPr wrap="square" lIns="0" rIns="0" tIns="0" bIns="0" anchor="t">
            <a:spAutoFit/>
          </a:bodyPr>
          <a:lstStyle/>
          <a:p>
            <a:pPr>
              <a:lnSpc>
                <a:spcPct val="108000"/>
              </a:lnSpc>
              <a:spcBef>
                <a:spcPts val="0"/>
              </a:spcBef>
              <a:spcAft>
                <a:spcPts val="0"/>
              </a:spcAft>
              <a:defRPr sz="1070" b="1">
                <a:solidFill>
                  <a:srgbClr val="5AD7C3"/>
                </a:solidFill>
                <a:latin typeface="Arial"/>
              </a:defRPr>
            </a:pPr>
            <a:r>
              <a:t>REAL WORKFLOW IMPLICATION</a:t>
            </a:r>
          </a:p>
        </p:txBody>
      </p:sp>
      <p:sp>
        <p:nvSpPr>
          <p:cNvPr id="23" name="TextBox 22"/>
          <p:cNvSpPr txBox="1"/>
          <p:nvPr/>
        </p:nvSpPr>
        <p:spPr>
          <a:xfrm>
            <a:off x="3319272" y="5614416"/>
            <a:ext cx="8156448" cy="283464"/>
          </a:xfrm>
          <a:prstGeom prst="rect">
            <a:avLst/>
          </a:prstGeom>
          <a:noFill/>
        </p:spPr>
        <p:txBody>
          <a:bodyPr wrap="square" lIns="0" rIns="0" tIns="0" bIns="0" anchor="t">
            <a:spAutoFit/>
          </a:bodyPr>
          <a:lstStyle/>
          <a:p>
            <a:pPr>
              <a:lnSpc>
                <a:spcPct val="108000"/>
              </a:lnSpc>
              <a:spcBef>
                <a:spcPts val="0"/>
              </a:spcBef>
              <a:spcAft>
                <a:spcPts val="0"/>
              </a:spcAft>
              <a:defRPr sz="1430" b="1">
                <a:solidFill>
                  <a:srgbClr val="F6F8FC"/>
                </a:solidFill>
                <a:latin typeface="Arial"/>
              </a:defRPr>
            </a:pPr>
            <a:r>
              <a:t>Test what agents can learn and do separately from what the policy claims.</a:t>
            </a:r>
          </a:p>
        </p:txBody>
      </p:sp>
      <p:sp>
        <p:nvSpPr>
          <p:cNvPr id="24" name="TextBox 23"/>
          <p:cNvSpPr txBox="1"/>
          <p:nvPr/>
        </p:nvSpPr>
        <p:spPr>
          <a:xfrm>
            <a:off x="502920" y="6391656"/>
            <a:ext cx="11183112" cy="137160"/>
          </a:xfrm>
          <a:prstGeom prst="rect">
            <a:avLst/>
          </a:prstGeom>
          <a:noFill/>
        </p:spPr>
        <p:txBody>
          <a:bodyPr wrap="square" lIns="0" rIns="0" tIns="0" bIns="0" anchor="t">
            <a:spAutoFit/>
          </a:bodyPr>
          <a:lstStyle/>
          <a:p>
            <a:pPr>
              <a:lnSpc>
                <a:spcPct val="108000"/>
              </a:lnSpc>
              <a:spcBef>
                <a:spcPts val="0"/>
              </a:spcBef>
              <a:spcAft>
                <a:spcPts val="0"/>
              </a:spcAft>
              <a:defRPr sz="880" b="0">
                <a:solidFill>
                  <a:srgbClr val="899AB4"/>
                </a:solidFill>
                <a:latin typeface="Arial"/>
              </a:defRPr>
            </a:pPr>
            <a:r>
              <a:t>Controlled supplied-codebook capability; neutral source; public-copy task only. No spontaneous collusion, new XOR theory or original-defense break.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Joint Metadata, Privacy Announcements and Agent Decisions</dc:title>
  <dc:subject>Five-slide empirical briefing with held-out ablations and stability controls</dc:subject>
  <dc:creator>AI-assisted research briefing; author metadata not supplied</dc:creator>
  <cp:keywords>AI collusion, metadata, held-out validation, joint information, Apart Research</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